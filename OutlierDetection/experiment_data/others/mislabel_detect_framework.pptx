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093E"/>
    <a:srgbClr val="CF2AC0"/>
    <a:srgbClr val="CC5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3"/>
    <p:restoredTop sz="94628"/>
  </p:normalViewPr>
  <p:slideViewPr>
    <p:cSldViewPr snapToGrid="0" snapToObjects="1">
      <p:cViewPr>
        <p:scale>
          <a:sx n="60" d="100"/>
          <a:sy n="60" d="100"/>
        </p:scale>
        <p:origin x="2672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41079A-1202-D941-B948-D26664BAD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4C14D3-321B-994D-823B-BCA2AE2C9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F861E-38A0-614F-9D5D-F215B3998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0A2646-D6DA-8D40-8C01-237942D1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E1EF85-528D-D746-852C-8E2242670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927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33589-4853-2F49-A702-366EEB40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506FC4-A989-704D-98D3-D759A23F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FB1502-321D-124D-BC6F-451BB25A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BAE12-C2E2-B145-9A99-8F581C28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48F92-8A74-CE45-8B56-0D13E35D4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5748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4DD27-38D0-A141-ACBC-A03C1A9A1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8446C-B9E8-8B4E-B4FE-C3E7D1203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4C87B-3521-C642-8235-C2EF122A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28ADDC-1652-7A49-A813-7A536C13D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01948-0FAC-1949-9F39-92B14221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0882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713CD9-11A0-C34D-94B7-EF678B90D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FA8E2C-C32A-B041-A7AD-98DE8B59D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526471-87BB-1340-AB2F-05EB8659E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796364-16D7-364F-B48E-35EF2B4A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63C2D2-1BAA-534B-8D69-9A42A25E0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49D016-2D5A-5D4D-86C5-640ECD9E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886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512923-3EF6-634F-B01F-9631F6C6F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BB5CB2-FDFD-034A-B2D5-DC7D3A553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E5FA6-CB5B-7F48-A43E-0D5C216B5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30381B-2116-E543-973B-E20AB31C46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CECB67-528D-974E-A703-C48B6D85A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2AF172-6F0C-7143-932A-4B449992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FD7C0C-0B88-6947-853B-425919F8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57389F-5FB3-004B-917C-C9D8220F2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64892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675158-C548-6244-9312-C2751F9A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EC5CDD3-02F5-8F40-8625-D8E60C9CA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ABB631B-0547-D041-98BC-65317DC94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0A02BE-20F2-6445-A5A5-5F72EC37D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83789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B05294-4436-F94D-874C-95D2CAAED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8F68A2C-3159-C240-9474-3F7F75080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7B57C-6182-0041-8126-15B98B0C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22517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CA793-4442-224A-AB54-6B89BAE1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98BD42-C3EC-8B40-8C22-C39083529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ECA2E9-2535-EB43-875A-5A18369FC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D2CE2AE-4F36-0B46-A960-3329450FF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E9C365-DB8F-9247-9DC9-B9949AFD6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4416BB-2C3A-9D48-B25B-3B40947E2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9577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C9AC8B-9B32-3B4B-9500-554F359D3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A3900E6-81A9-0A4B-930A-236D938947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DCBA308-8ED0-A040-B187-F4D688FFF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EB9D1C-8DB0-334C-9661-6DDE7D9A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B68F0C-991B-2A41-8198-3C06B2AA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D70519-FF3B-CC4C-A26F-0EF47DD5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310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B8406-360B-6045-83C3-038FBA5A4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4A8E1C-CA78-DC41-8AA4-35A990978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5718D5-A54A-2F4F-99EF-22D520715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3988A4-0D6C-934F-8EC5-C0A71396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3160D5-7BFD-2042-9740-42B03D6E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313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EA75DE-F881-B245-8325-7A04E2C2DC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2C1C40-5B56-C848-92BB-E30AB8FEF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B25F4-9474-AF44-A419-1201D0BE7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ECEAE-77B1-6248-AA66-4FA68201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2B920D-325E-9544-8C74-ED4DB995E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9098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C0D1F-9B56-0043-9418-827AD05F5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6B54AD-0AD0-5C4A-80BE-4BFD90C8D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5D77DF-EDF5-FB4A-B084-FC66F09F8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223D4A-6E93-F44E-938F-C33C9640844E}" type="datetimeFigureOut">
              <a:rPr kumimoji="1" lang="zh-CN" altLang="en-US" smtClean="0"/>
              <a:t>2025/3/9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B2091-5EF7-604F-8D75-F6F161AE38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E9520B-9DFB-3D44-945A-07B7F89DD7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19048-0B30-FE4E-BB53-A5C91EA09C8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705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矩形 268">
            <a:extLst>
              <a:ext uri="{FF2B5EF4-FFF2-40B4-BE49-F238E27FC236}">
                <a16:creationId xmlns:a16="http://schemas.microsoft.com/office/drawing/2014/main" id="{8CAF78BD-F15F-9441-82E2-A75F0D747FE0}"/>
              </a:ext>
            </a:extLst>
          </p:cNvPr>
          <p:cNvSpPr/>
          <p:nvPr/>
        </p:nvSpPr>
        <p:spPr>
          <a:xfrm>
            <a:off x="81023" y="92596"/>
            <a:ext cx="11920979" cy="66785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845383D-C140-544A-87E0-7C21133B9774}"/>
              </a:ext>
            </a:extLst>
          </p:cNvPr>
          <p:cNvSpPr/>
          <p:nvPr/>
        </p:nvSpPr>
        <p:spPr>
          <a:xfrm>
            <a:off x="189998" y="915899"/>
            <a:ext cx="2237591" cy="447876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D00721F-CCF7-9B4F-857D-668CC6872B1F}"/>
              </a:ext>
            </a:extLst>
          </p:cNvPr>
          <p:cNvSpPr/>
          <p:nvPr/>
        </p:nvSpPr>
        <p:spPr>
          <a:xfrm>
            <a:off x="555758" y="1486054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3820553-16E7-DE47-8DCA-66023FDCA003}"/>
              </a:ext>
            </a:extLst>
          </p:cNvPr>
          <p:cNvSpPr/>
          <p:nvPr/>
        </p:nvSpPr>
        <p:spPr>
          <a:xfrm>
            <a:off x="636440" y="2228331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FD13D78-94EA-7443-B49A-022EA3514EBD}"/>
              </a:ext>
            </a:extLst>
          </p:cNvPr>
          <p:cNvSpPr/>
          <p:nvPr/>
        </p:nvSpPr>
        <p:spPr>
          <a:xfrm>
            <a:off x="1152806" y="1832092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1E19A465-D307-F44E-A31F-696D346B4AC4}"/>
              </a:ext>
            </a:extLst>
          </p:cNvPr>
          <p:cNvSpPr/>
          <p:nvPr/>
        </p:nvSpPr>
        <p:spPr>
          <a:xfrm>
            <a:off x="1407405" y="261740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369FFBC-26B4-1E44-878D-FC168B57C46C}"/>
              </a:ext>
            </a:extLst>
          </p:cNvPr>
          <p:cNvSpPr/>
          <p:nvPr/>
        </p:nvSpPr>
        <p:spPr>
          <a:xfrm>
            <a:off x="1409198" y="1616938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66852D8-ABA2-4E40-93CD-C2CB02864DAB}"/>
              </a:ext>
            </a:extLst>
          </p:cNvPr>
          <p:cNvSpPr/>
          <p:nvPr/>
        </p:nvSpPr>
        <p:spPr>
          <a:xfrm>
            <a:off x="1072123" y="2267775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D06ECD0-6CD5-084D-A1F2-99667A183FBE}"/>
              </a:ext>
            </a:extLst>
          </p:cNvPr>
          <p:cNvSpPr/>
          <p:nvPr/>
        </p:nvSpPr>
        <p:spPr>
          <a:xfrm>
            <a:off x="1568770" y="2095653"/>
            <a:ext cx="161365" cy="172122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三角形 11">
            <a:extLst>
              <a:ext uri="{FF2B5EF4-FFF2-40B4-BE49-F238E27FC236}">
                <a16:creationId xmlns:a16="http://schemas.microsoft.com/office/drawing/2014/main" id="{93E549FD-038D-6A45-8847-1AAA4B4360AB}"/>
              </a:ext>
            </a:extLst>
          </p:cNvPr>
          <p:cNvSpPr/>
          <p:nvPr/>
        </p:nvSpPr>
        <p:spPr>
          <a:xfrm>
            <a:off x="964549" y="330140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三角形 12">
            <a:extLst>
              <a:ext uri="{FF2B5EF4-FFF2-40B4-BE49-F238E27FC236}">
                <a16:creationId xmlns:a16="http://schemas.microsoft.com/office/drawing/2014/main" id="{6E5597AF-E1D5-1441-B095-667461657356}"/>
              </a:ext>
            </a:extLst>
          </p:cNvPr>
          <p:cNvSpPr/>
          <p:nvPr/>
        </p:nvSpPr>
        <p:spPr>
          <a:xfrm>
            <a:off x="1636006" y="3062049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三角形 13">
            <a:extLst>
              <a:ext uri="{FF2B5EF4-FFF2-40B4-BE49-F238E27FC236}">
                <a16:creationId xmlns:a16="http://schemas.microsoft.com/office/drawing/2014/main" id="{218685BA-60DC-D644-BC39-B3C0CFC7CF2C}"/>
              </a:ext>
            </a:extLst>
          </p:cNvPr>
          <p:cNvSpPr/>
          <p:nvPr/>
        </p:nvSpPr>
        <p:spPr>
          <a:xfrm>
            <a:off x="703676" y="2970608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415EB80-7790-3E45-8E2A-87939F9471DD}"/>
              </a:ext>
            </a:extLst>
          </p:cNvPr>
          <p:cNvSpPr/>
          <p:nvPr/>
        </p:nvSpPr>
        <p:spPr>
          <a:xfrm>
            <a:off x="1626143" y="3732608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1C56DD79-E978-7A4F-B311-17B49FDB977E}"/>
              </a:ext>
            </a:extLst>
          </p:cNvPr>
          <p:cNvSpPr/>
          <p:nvPr/>
        </p:nvSpPr>
        <p:spPr>
          <a:xfrm>
            <a:off x="615818" y="3913248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6F95282-D954-E140-B5E4-B3C5FE7B0715}"/>
              </a:ext>
            </a:extLst>
          </p:cNvPr>
          <p:cNvSpPr/>
          <p:nvPr/>
        </p:nvSpPr>
        <p:spPr>
          <a:xfrm>
            <a:off x="1787508" y="1208146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三角形 17">
            <a:extLst>
              <a:ext uri="{FF2B5EF4-FFF2-40B4-BE49-F238E27FC236}">
                <a16:creationId xmlns:a16="http://schemas.microsoft.com/office/drawing/2014/main" id="{174AED41-E131-7845-982E-D0955EADB545}"/>
              </a:ext>
            </a:extLst>
          </p:cNvPr>
          <p:cNvSpPr/>
          <p:nvPr/>
        </p:nvSpPr>
        <p:spPr>
          <a:xfrm>
            <a:off x="1299830" y="4085370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三角形 18">
            <a:extLst>
              <a:ext uri="{FF2B5EF4-FFF2-40B4-BE49-F238E27FC236}">
                <a16:creationId xmlns:a16="http://schemas.microsoft.com/office/drawing/2014/main" id="{05BE5FEF-E13D-DB49-B775-E5099D48505D}"/>
              </a:ext>
            </a:extLst>
          </p:cNvPr>
          <p:cNvSpPr/>
          <p:nvPr/>
        </p:nvSpPr>
        <p:spPr>
          <a:xfrm>
            <a:off x="964548" y="466135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0D17810-52A7-8444-B367-F406180E9430}"/>
              </a:ext>
            </a:extLst>
          </p:cNvPr>
          <p:cNvSpPr/>
          <p:nvPr/>
        </p:nvSpPr>
        <p:spPr>
          <a:xfrm>
            <a:off x="1953356" y="3390607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D31BC826-02F0-314D-8241-61DAF4BB0389}"/>
              </a:ext>
            </a:extLst>
          </p:cNvPr>
          <p:cNvSpPr/>
          <p:nvPr/>
        </p:nvSpPr>
        <p:spPr>
          <a:xfrm>
            <a:off x="394393" y="3476668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6390E378-CB90-2649-A058-21C089D2A8FB}"/>
              </a:ext>
            </a:extLst>
          </p:cNvPr>
          <p:cNvSpPr/>
          <p:nvPr/>
        </p:nvSpPr>
        <p:spPr>
          <a:xfrm>
            <a:off x="1743580" y="4567671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EB28A58-C336-414C-95A6-DE720977FB5A}"/>
                  </a:ext>
                </a:extLst>
              </p:cNvPr>
              <p:cNvSpPr txBox="1"/>
              <p:nvPr/>
            </p:nvSpPr>
            <p:spPr>
              <a:xfrm>
                <a:off x="1787508" y="1315140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DEB28A58-C336-414C-95A6-DE720977F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7508" y="1315140"/>
                <a:ext cx="357693" cy="2154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E83FFFF-6840-C94F-B158-F38DC91AEA93}"/>
                  </a:ext>
                </a:extLst>
              </p:cNvPr>
              <p:cNvSpPr txBox="1"/>
              <p:nvPr/>
            </p:nvSpPr>
            <p:spPr>
              <a:xfrm>
                <a:off x="538275" y="1623594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E83FFFF-6840-C94F-B158-F38DC91AE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275" y="1623594"/>
                <a:ext cx="357693" cy="2154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0E2115-90FD-F244-9AFB-1542AD7AE506}"/>
                  </a:ext>
                </a:extLst>
              </p:cNvPr>
              <p:cNvSpPr txBox="1"/>
              <p:nvPr/>
            </p:nvSpPr>
            <p:spPr>
              <a:xfrm>
                <a:off x="1435915" y="1722221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zh-CN" altLang="en-US" sz="800" dirty="0"/>
              </a:p>
            </p:txBody>
          </p:sp>
        </mc:Choice>
        <mc:Fallback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F0E2115-90FD-F244-9AFB-1542AD7AE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915" y="1722221"/>
                <a:ext cx="357693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B5C3667-6893-0644-9AD9-5C7F89912D45}"/>
                  </a:ext>
                </a:extLst>
              </p:cNvPr>
              <p:cNvSpPr txBox="1"/>
              <p:nvPr/>
            </p:nvSpPr>
            <p:spPr>
              <a:xfrm>
                <a:off x="1152805" y="1937665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B5C3667-6893-0644-9AD9-5C7F89912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2805" y="1937665"/>
                <a:ext cx="357693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652C70C-B0AD-3A43-B8BB-F90B1C990468}"/>
                  </a:ext>
                </a:extLst>
              </p:cNvPr>
              <p:cNvSpPr txBox="1"/>
              <p:nvPr/>
            </p:nvSpPr>
            <p:spPr>
              <a:xfrm>
                <a:off x="1591180" y="221713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0652C70C-B0AD-3A43-B8BB-F90B1C990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180" y="2217136"/>
                <a:ext cx="357693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E3085C6-EEAF-C547-991F-ADE07B04396E}"/>
                  </a:ext>
                </a:extLst>
              </p:cNvPr>
              <p:cNvSpPr txBox="1"/>
              <p:nvPr/>
            </p:nvSpPr>
            <p:spPr>
              <a:xfrm>
                <a:off x="636440" y="235383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4E3085C6-EEAF-C547-991F-ADE07B043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440" y="2353836"/>
                <a:ext cx="357693" cy="2154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04A1099-1C5E-2C48-A270-9EFD3AD892B6}"/>
                  </a:ext>
                </a:extLst>
              </p:cNvPr>
              <p:cNvSpPr txBox="1"/>
              <p:nvPr/>
            </p:nvSpPr>
            <p:spPr>
              <a:xfrm>
                <a:off x="1065400" y="2397491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04A1099-1C5E-2C48-A270-9EFD3AD89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400" y="2397491"/>
                <a:ext cx="357693" cy="2154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8148B30-96AC-AD41-BD85-1655839846B8}"/>
                  </a:ext>
                </a:extLst>
              </p:cNvPr>
              <p:cNvSpPr txBox="1"/>
              <p:nvPr/>
            </p:nvSpPr>
            <p:spPr>
              <a:xfrm>
                <a:off x="1423093" y="2721750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8148B30-96AC-AD41-BD85-165583984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93" y="2721750"/>
                <a:ext cx="357693" cy="2154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2971FBB-B780-464F-8DEA-B8F5A67EFBCB}"/>
                  </a:ext>
                </a:extLst>
              </p:cNvPr>
              <p:cNvSpPr txBox="1"/>
              <p:nvPr/>
            </p:nvSpPr>
            <p:spPr>
              <a:xfrm>
                <a:off x="659319" y="3099859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2971FBB-B780-464F-8DEA-B8F5A67EF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19" y="3099859"/>
                <a:ext cx="357693" cy="21544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C950E08-C65E-C946-82E2-D4F9D0BEAC9F}"/>
                  </a:ext>
                </a:extLst>
              </p:cNvPr>
              <p:cNvSpPr txBox="1"/>
              <p:nvPr/>
            </p:nvSpPr>
            <p:spPr>
              <a:xfrm>
                <a:off x="1562214" y="3193685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6C950E08-C65E-C946-82E2-D4F9D0BE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2214" y="3193685"/>
                <a:ext cx="357693" cy="21544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686523C-78BC-BA4E-8E10-7D8CE4A872BB}"/>
                  </a:ext>
                </a:extLst>
              </p:cNvPr>
              <p:cNvSpPr txBox="1"/>
              <p:nvPr/>
            </p:nvSpPr>
            <p:spPr>
              <a:xfrm>
                <a:off x="893276" y="343334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B686523C-78BC-BA4E-8E10-7D8CE4A87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76" y="3433346"/>
                <a:ext cx="357693" cy="21544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35D00-3453-384F-9CA0-0CA771A86834}"/>
                  </a:ext>
                </a:extLst>
              </p:cNvPr>
              <p:cNvSpPr txBox="1"/>
              <p:nvPr/>
            </p:nvSpPr>
            <p:spPr>
              <a:xfrm>
                <a:off x="1935874" y="3517164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D0A35D00-3453-384F-9CA0-0CA771A86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874" y="3517164"/>
                <a:ext cx="357693" cy="2154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92E7074-080D-DF4D-A01E-0C7539D7CD94}"/>
                  </a:ext>
                </a:extLst>
              </p:cNvPr>
              <p:cNvSpPr txBox="1"/>
              <p:nvPr/>
            </p:nvSpPr>
            <p:spPr>
              <a:xfrm>
                <a:off x="1626143" y="384379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𝟏𝟒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492E7074-080D-DF4D-A01E-0C7539D7CD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143" y="3843798"/>
                <a:ext cx="357693" cy="2154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5C24ED-4397-D343-BF1F-BCFE6217764C}"/>
                  </a:ext>
                </a:extLst>
              </p:cNvPr>
              <p:cNvSpPr txBox="1"/>
              <p:nvPr/>
            </p:nvSpPr>
            <p:spPr>
              <a:xfrm>
                <a:off x="618957" y="4022998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5A5C24ED-4397-D343-BF1F-BCFE62177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57" y="4022998"/>
                <a:ext cx="357693" cy="21544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67F87B2-A39E-7644-9EC6-79AC48C26B00}"/>
                  </a:ext>
                </a:extLst>
              </p:cNvPr>
              <p:cNvSpPr txBox="1"/>
              <p:nvPr/>
            </p:nvSpPr>
            <p:spPr>
              <a:xfrm>
                <a:off x="399546" y="3588355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E67F87B2-A39E-7644-9EC6-79AC48C26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46" y="3588355"/>
                <a:ext cx="357693" cy="21544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809002C-19D0-1946-A371-EA8F98B121B5}"/>
                  </a:ext>
                </a:extLst>
              </p:cNvPr>
              <p:cNvSpPr txBox="1"/>
              <p:nvPr/>
            </p:nvSpPr>
            <p:spPr>
              <a:xfrm>
                <a:off x="1250969" y="4210599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8809002C-19D0-1946-A371-EA8F98B12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69" y="4210599"/>
                <a:ext cx="357693" cy="21544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66B62FF-A696-5644-918C-F7AF215F5A29}"/>
                  </a:ext>
                </a:extLst>
              </p:cNvPr>
              <p:cNvSpPr txBox="1"/>
              <p:nvPr/>
            </p:nvSpPr>
            <p:spPr>
              <a:xfrm>
                <a:off x="1748508" y="4689495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66B62FF-A696-5644-918C-F7AF215F5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8508" y="4689495"/>
                <a:ext cx="357693" cy="21544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562CCC8-8338-654F-87BB-BB234AC6A0FF}"/>
                  </a:ext>
                </a:extLst>
              </p:cNvPr>
              <p:cNvSpPr txBox="1"/>
              <p:nvPr/>
            </p:nvSpPr>
            <p:spPr>
              <a:xfrm>
                <a:off x="875795" y="4796895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B562CCC8-8338-654F-87BB-BB234AC6A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795" y="4796895"/>
                <a:ext cx="357693" cy="21544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518446-2E60-B049-AFCA-BCF29279B8BF}"/>
                  </a:ext>
                </a:extLst>
              </p:cNvPr>
              <p:cNvSpPr txBox="1"/>
              <p:nvPr/>
            </p:nvSpPr>
            <p:spPr>
              <a:xfrm>
                <a:off x="789961" y="5113217"/>
                <a:ext cx="1207994" cy="2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Dataset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9518446-2E60-B049-AFCA-BCF29279B8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961" y="5113217"/>
                <a:ext cx="1207994" cy="293991"/>
              </a:xfrm>
              <a:prstGeom prst="rect">
                <a:avLst/>
              </a:prstGeom>
              <a:blipFill>
                <a:blip r:embed="rId20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图片 44">
            <a:extLst>
              <a:ext uri="{FF2B5EF4-FFF2-40B4-BE49-F238E27FC236}">
                <a16:creationId xmlns:a16="http://schemas.microsoft.com/office/drawing/2014/main" id="{A01F6240-64CD-4A45-A813-D9538A3DABE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743036" y="2499505"/>
            <a:ext cx="562964" cy="562964"/>
          </a:xfrm>
          <a:prstGeom prst="rect">
            <a:avLst/>
          </a:prstGeom>
        </p:spPr>
      </p:pic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A4794D5A-73B6-7848-B507-AFB1F560AE1C}"/>
              </a:ext>
            </a:extLst>
          </p:cNvPr>
          <p:cNvCxnSpPr>
            <a:cxnSpLocks/>
          </p:cNvCxnSpPr>
          <p:nvPr/>
        </p:nvCxnSpPr>
        <p:spPr>
          <a:xfrm flipV="1">
            <a:off x="2485731" y="3255930"/>
            <a:ext cx="1043554" cy="56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F7D1F3F1-1FFF-2E48-989F-EEA1AB2F0B7D}"/>
              </a:ext>
            </a:extLst>
          </p:cNvPr>
          <p:cNvSpPr/>
          <p:nvPr/>
        </p:nvSpPr>
        <p:spPr>
          <a:xfrm>
            <a:off x="2535325" y="2353836"/>
            <a:ext cx="900517" cy="812756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95F0E82-9CC8-6646-BF68-C759AD46D2FE}"/>
              </a:ext>
            </a:extLst>
          </p:cNvPr>
          <p:cNvSpPr txBox="1"/>
          <p:nvPr/>
        </p:nvSpPr>
        <p:spPr>
          <a:xfrm>
            <a:off x="2360845" y="3305455"/>
            <a:ext cx="140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Train few epochs</a:t>
            </a:r>
            <a:endParaRPr kumimoji="1" lang="zh-CN" altLang="en-US" sz="1000" b="1" i="1" dirty="0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A18CEC35-B3D5-D242-94CC-AB24B5C3B95B}"/>
              </a:ext>
            </a:extLst>
          </p:cNvPr>
          <p:cNvSpPr/>
          <p:nvPr/>
        </p:nvSpPr>
        <p:spPr>
          <a:xfrm>
            <a:off x="3658742" y="295039"/>
            <a:ext cx="1250262" cy="304199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924516BB-C733-C344-AFE7-0B227149EBF4}"/>
              </a:ext>
            </a:extLst>
          </p:cNvPr>
          <p:cNvSpPr/>
          <p:nvPr/>
        </p:nvSpPr>
        <p:spPr>
          <a:xfrm>
            <a:off x="3673009" y="3697618"/>
            <a:ext cx="1246627" cy="1703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0490716D-6ABE-F14A-AF9C-E1930FD50B3F}"/>
              </a:ext>
            </a:extLst>
          </p:cNvPr>
          <p:cNvSpPr/>
          <p:nvPr/>
        </p:nvSpPr>
        <p:spPr>
          <a:xfrm>
            <a:off x="4169466" y="71366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60537562-5BF5-9244-9F32-56ACB2D8587E}"/>
              </a:ext>
            </a:extLst>
          </p:cNvPr>
          <p:cNvSpPr/>
          <p:nvPr/>
        </p:nvSpPr>
        <p:spPr>
          <a:xfrm>
            <a:off x="4169467" y="102684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E8EFDC8E-FF57-C848-96C1-23A37DBD732E}"/>
              </a:ext>
            </a:extLst>
          </p:cNvPr>
          <p:cNvSpPr/>
          <p:nvPr/>
        </p:nvSpPr>
        <p:spPr>
          <a:xfrm>
            <a:off x="4169466" y="136987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56F631BE-1896-4144-B368-15E6CEC3CD42}"/>
              </a:ext>
            </a:extLst>
          </p:cNvPr>
          <p:cNvSpPr/>
          <p:nvPr/>
        </p:nvSpPr>
        <p:spPr>
          <a:xfrm>
            <a:off x="4169466" y="1722863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7E439766-4DF8-A84A-AA39-9755B71FEB79}"/>
              </a:ext>
            </a:extLst>
          </p:cNvPr>
          <p:cNvSpPr/>
          <p:nvPr/>
        </p:nvSpPr>
        <p:spPr>
          <a:xfrm>
            <a:off x="4169466" y="206553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074B4EA8-4262-B547-9EB3-048BAFF9FE4F}"/>
              </a:ext>
            </a:extLst>
          </p:cNvPr>
          <p:cNvSpPr/>
          <p:nvPr/>
        </p:nvSpPr>
        <p:spPr>
          <a:xfrm>
            <a:off x="4169466" y="2738749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72DAD51-059F-4D4D-9A8A-D8CD00DD7DEB}"/>
                  </a:ext>
                </a:extLst>
              </p:cNvPr>
              <p:cNvSpPr txBox="1"/>
              <p:nvPr/>
            </p:nvSpPr>
            <p:spPr>
              <a:xfrm>
                <a:off x="3788092" y="692002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1" name="文本框 60">
                <a:extLst>
                  <a:ext uri="{FF2B5EF4-FFF2-40B4-BE49-F238E27FC236}">
                    <a16:creationId xmlns:a16="http://schemas.microsoft.com/office/drawing/2014/main" id="{072DAD51-059F-4D4D-9A8A-D8CD00DD7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8092" y="692002"/>
                <a:ext cx="246491" cy="21544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9919053-02D3-BF43-92BC-39942223DAD8}"/>
                  </a:ext>
                </a:extLst>
              </p:cNvPr>
              <p:cNvSpPr txBox="1"/>
              <p:nvPr/>
            </p:nvSpPr>
            <p:spPr>
              <a:xfrm>
                <a:off x="3782377" y="100905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2" name="文本框 61">
                <a:extLst>
                  <a:ext uri="{FF2B5EF4-FFF2-40B4-BE49-F238E27FC236}">
                    <a16:creationId xmlns:a16="http://schemas.microsoft.com/office/drawing/2014/main" id="{39919053-02D3-BF43-92BC-39942223D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009050"/>
                <a:ext cx="246491" cy="215444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076B2B-C773-6940-A4EC-271595C8CFB1}"/>
                  </a:ext>
                </a:extLst>
              </p:cNvPr>
              <p:cNvSpPr txBox="1"/>
              <p:nvPr/>
            </p:nvSpPr>
            <p:spPr>
              <a:xfrm>
                <a:off x="3782377" y="138384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3C076B2B-C773-6940-A4EC-271595C8C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383843"/>
                <a:ext cx="246491" cy="21544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5B9E86C-0549-1147-A1FA-65A4F5F312BD}"/>
                  </a:ext>
                </a:extLst>
              </p:cNvPr>
              <p:cNvSpPr txBox="1"/>
              <p:nvPr/>
            </p:nvSpPr>
            <p:spPr>
              <a:xfrm>
                <a:off x="3782377" y="1735197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05B9E86C-0549-1147-A1FA-65A4F5F312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1735197"/>
                <a:ext cx="246491" cy="21544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C38236E-6F67-9440-ABFA-5F9C23C97379}"/>
                  </a:ext>
                </a:extLst>
              </p:cNvPr>
              <p:cNvSpPr txBox="1"/>
              <p:nvPr/>
            </p:nvSpPr>
            <p:spPr>
              <a:xfrm>
                <a:off x="3782377" y="2075684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C38236E-6F67-9440-ABFA-5F9C23C97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075684"/>
                <a:ext cx="246491" cy="215444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BCD0403-285B-4847-821F-46C590607159}"/>
                  </a:ext>
                </a:extLst>
              </p:cNvPr>
              <p:cNvSpPr txBox="1"/>
              <p:nvPr/>
            </p:nvSpPr>
            <p:spPr>
              <a:xfrm>
                <a:off x="3782377" y="2389038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0BCD0403-285B-4847-821F-46C590607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389038"/>
                <a:ext cx="246491" cy="215444"/>
              </a:xfrm>
              <a:prstGeom prst="rect">
                <a:avLst/>
              </a:prstGeom>
              <a:blipFill>
                <a:blip r:embed="rId27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36B39FA-3B85-E747-9EAC-F6E6E3200616}"/>
                  </a:ext>
                </a:extLst>
              </p:cNvPr>
              <p:cNvSpPr txBox="1"/>
              <p:nvPr/>
            </p:nvSpPr>
            <p:spPr>
              <a:xfrm>
                <a:off x="3782377" y="2717088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836B39FA-3B85-E747-9EAC-F6E6E3200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2377" y="2717088"/>
                <a:ext cx="246491" cy="215444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三角形 67">
            <a:extLst>
              <a:ext uri="{FF2B5EF4-FFF2-40B4-BE49-F238E27FC236}">
                <a16:creationId xmlns:a16="http://schemas.microsoft.com/office/drawing/2014/main" id="{F85CAA4E-1FDF-6B44-ADEE-2CFA3BE38F61}"/>
              </a:ext>
            </a:extLst>
          </p:cNvPr>
          <p:cNvSpPr/>
          <p:nvPr/>
        </p:nvSpPr>
        <p:spPr>
          <a:xfrm>
            <a:off x="4156019" y="2407110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8192C0B-2205-3842-9607-61CF6B7503F9}"/>
              </a:ext>
            </a:extLst>
          </p:cNvPr>
          <p:cNvSpPr txBox="1"/>
          <p:nvPr/>
        </p:nvSpPr>
        <p:spPr>
          <a:xfrm>
            <a:off x="4064366" y="2978931"/>
            <a:ext cx="359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. . .</a:t>
            </a:r>
            <a:endParaRPr kumimoji="1" lang="zh-CN" altLang="en-US" sz="1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0E4F258E-2EE3-8345-A413-B3AA01DF7110}"/>
                  </a:ext>
                </a:extLst>
              </p:cNvPr>
              <p:cNvSpPr txBox="1"/>
              <p:nvPr/>
            </p:nvSpPr>
            <p:spPr>
              <a:xfrm>
                <a:off x="3701014" y="323986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Clean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0E4F258E-2EE3-8345-A413-B3AA01DF7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1014" y="323986"/>
                <a:ext cx="1207994" cy="276999"/>
              </a:xfrm>
              <a:prstGeom prst="rect">
                <a:avLst/>
              </a:prstGeom>
              <a:blipFill>
                <a:blip r:embed="rId29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B5058EC-1EB4-594F-A0E7-BA38FD9144D2}"/>
                  </a:ext>
                </a:extLst>
              </p:cNvPr>
              <p:cNvSpPr txBox="1"/>
              <p:nvPr/>
            </p:nvSpPr>
            <p:spPr>
              <a:xfrm>
                <a:off x="3774295" y="3718559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Dirty Pool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9B5058EC-1EB4-594F-A0E7-BA38FD914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295" y="3718559"/>
                <a:ext cx="1207994" cy="276999"/>
              </a:xfrm>
              <a:prstGeom prst="rect">
                <a:avLst/>
              </a:prstGeom>
              <a:blipFill>
                <a:blip r:embed="rId30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本框 71">
            <a:extLst>
              <a:ext uri="{FF2B5EF4-FFF2-40B4-BE49-F238E27FC236}">
                <a16:creationId xmlns:a16="http://schemas.microsoft.com/office/drawing/2014/main" id="{AB680122-2A26-1D46-983E-1441C8AEBF82}"/>
              </a:ext>
            </a:extLst>
          </p:cNvPr>
          <p:cNvSpPr txBox="1"/>
          <p:nvPr/>
        </p:nvSpPr>
        <p:spPr>
          <a:xfrm>
            <a:off x="1774484" y="5500816"/>
            <a:ext cx="2603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I: Early Loss Detection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8ABA50A-88DC-464E-ABA8-4D7F548C1E4E}"/>
              </a:ext>
            </a:extLst>
          </p:cNvPr>
          <p:cNvSpPr txBox="1"/>
          <p:nvPr/>
        </p:nvSpPr>
        <p:spPr>
          <a:xfrm>
            <a:off x="4396602" y="70357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0.84</a:t>
            </a:r>
            <a:endParaRPr kumimoji="1" lang="zh-CN" altLang="en-US" sz="800" b="1" i="1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BC2AEB39-B9E6-9846-AA15-ED1392BA3E22}"/>
              </a:ext>
            </a:extLst>
          </p:cNvPr>
          <p:cNvSpPr txBox="1"/>
          <p:nvPr/>
        </p:nvSpPr>
        <p:spPr>
          <a:xfrm>
            <a:off x="4393406" y="1018015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1.21</a:t>
            </a:r>
            <a:endParaRPr kumimoji="1" lang="zh-CN" altLang="en-US" sz="800" b="1" i="1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27406B7-37E9-F849-B864-341D1D3D2D70}"/>
              </a:ext>
            </a:extLst>
          </p:cNvPr>
          <p:cNvSpPr txBox="1"/>
          <p:nvPr/>
        </p:nvSpPr>
        <p:spPr>
          <a:xfrm>
            <a:off x="4393406" y="135773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0.97</a:t>
            </a:r>
            <a:endParaRPr kumimoji="1" lang="zh-CN" altLang="en-US" sz="800" b="1" i="1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D7EB7513-B788-D34D-A62B-4BBE54D30FA1}"/>
              </a:ext>
            </a:extLst>
          </p:cNvPr>
          <p:cNvSpPr txBox="1"/>
          <p:nvPr/>
        </p:nvSpPr>
        <p:spPr>
          <a:xfrm>
            <a:off x="4393406" y="1710798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1.02</a:t>
            </a:r>
            <a:endParaRPr kumimoji="1" lang="zh-CN" altLang="en-US" sz="800" b="1" i="1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574C30E-0859-5342-A005-866E9E36680D}"/>
              </a:ext>
            </a:extLst>
          </p:cNvPr>
          <p:cNvSpPr txBox="1"/>
          <p:nvPr/>
        </p:nvSpPr>
        <p:spPr>
          <a:xfrm>
            <a:off x="4393406" y="204799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0.67</a:t>
            </a:r>
            <a:endParaRPr kumimoji="1" lang="zh-CN" altLang="en-US" sz="800" b="1" i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5D7C0C1A-25E8-4244-AD3A-DBC24567085D}"/>
              </a:ext>
            </a:extLst>
          </p:cNvPr>
          <p:cNvSpPr txBox="1"/>
          <p:nvPr/>
        </p:nvSpPr>
        <p:spPr>
          <a:xfrm>
            <a:off x="4380184" y="240177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1.66</a:t>
            </a:r>
            <a:endParaRPr kumimoji="1" lang="zh-CN" altLang="en-US" sz="800" b="1" i="1" dirty="0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8804AC2-A829-FB45-BA41-87F72749CA48}"/>
              </a:ext>
            </a:extLst>
          </p:cNvPr>
          <p:cNvSpPr txBox="1"/>
          <p:nvPr/>
        </p:nvSpPr>
        <p:spPr>
          <a:xfrm>
            <a:off x="4378292" y="273374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1.53</a:t>
            </a:r>
            <a:endParaRPr kumimoji="1" lang="zh-CN" altLang="en-US" sz="8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0FFF8E-1E08-CA4D-96D5-09338975451A}"/>
                  </a:ext>
                </a:extLst>
              </p:cNvPr>
              <p:cNvSpPr txBox="1"/>
              <p:nvPr/>
            </p:nvSpPr>
            <p:spPr>
              <a:xfrm>
                <a:off x="3795302" y="4034571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670FFF8E-1E08-CA4D-96D5-093389754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302" y="4034571"/>
                <a:ext cx="246491" cy="215444"/>
              </a:xfrm>
              <a:prstGeom prst="rect">
                <a:avLst/>
              </a:prstGeom>
              <a:blipFill>
                <a:blip r:embed="rId31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三角形 80">
            <a:extLst>
              <a:ext uri="{FF2B5EF4-FFF2-40B4-BE49-F238E27FC236}">
                <a16:creationId xmlns:a16="http://schemas.microsoft.com/office/drawing/2014/main" id="{49080849-5D4F-F145-ACBC-7BDF5A1F0B07}"/>
              </a:ext>
            </a:extLst>
          </p:cNvPr>
          <p:cNvSpPr/>
          <p:nvPr/>
        </p:nvSpPr>
        <p:spPr>
          <a:xfrm>
            <a:off x="4169486" y="403457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0B344878-3F1E-D94A-8C15-A86FA85D94EE}"/>
              </a:ext>
            </a:extLst>
          </p:cNvPr>
          <p:cNvSpPr txBox="1"/>
          <p:nvPr/>
        </p:nvSpPr>
        <p:spPr>
          <a:xfrm>
            <a:off x="4378292" y="4029111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1.96</a:t>
            </a:r>
            <a:endParaRPr kumimoji="1" lang="zh-CN" altLang="en-US" sz="8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13EDE5C-0F63-394D-9ACD-581A2CC30A0B}"/>
                  </a:ext>
                </a:extLst>
              </p:cNvPr>
              <p:cNvSpPr txBox="1"/>
              <p:nvPr/>
            </p:nvSpPr>
            <p:spPr>
              <a:xfrm>
                <a:off x="3792254" y="430584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913EDE5C-0F63-394D-9ACD-581A2CC30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254" y="4305843"/>
                <a:ext cx="246491" cy="215444"/>
              </a:xfrm>
              <a:prstGeom prst="rect">
                <a:avLst/>
              </a:prstGeom>
              <a:blipFill>
                <a:blip r:embed="rId32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三角形 83">
            <a:extLst>
              <a:ext uri="{FF2B5EF4-FFF2-40B4-BE49-F238E27FC236}">
                <a16:creationId xmlns:a16="http://schemas.microsoft.com/office/drawing/2014/main" id="{82A80E61-2285-9E47-9BE9-4249E64BD9D4}"/>
              </a:ext>
            </a:extLst>
          </p:cNvPr>
          <p:cNvSpPr/>
          <p:nvPr/>
        </p:nvSpPr>
        <p:spPr>
          <a:xfrm>
            <a:off x="4167902" y="4314402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BB5B81CA-C33D-CA4A-AB1F-E8DE185EF23B}"/>
              </a:ext>
            </a:extLst>
          </p:cNvPr>
          <p:cNvSpPr txBox="1"/>
          <p:nvPr/>
        </p:nvSpPr>
        <p:spPr>
          <a:xfrm>
            <a:off x="4390061" y="4318575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2.05</a:t>
            </a:r>
            <a:endParaRPr kumimoji="1" lang="zh-CN" altLang="en-US" sz="8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0739553-B345-FD44-B0C1-8CDFCAA02B16}"/>
                  </a:ext>
                </a:extLst>
              </p:cNvPr>
              <p:cNvSpPr txBox="1"/>
              <p:nvPr/>
            </p:nvSpPr>
            <p:spPr>
              <a:xfrm>
                <a:off x="3801398" y="4571019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70739553-B345-FD44-B0C1-8CDFCAA02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1398" y="4571019"/>
                <a:ext cx="246491" cy="215444"/>
              </a:xfrm>
              <a:prstGeom prst="rect">
                <a:avLst/>
              </a:prstGeom>
              <a:blipFill>
                <a:blip r:embed="rId33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三角形 86">
            <a:extLst>
              <a:ext uri="{FF2B5EF4-FFF2-40B4-BE49-F238E27FC236}">
                <a16:creationId xmlns:a16="http://schemas.microsoft.com/office/drawing/2014/main" id="{11ABC49C-3717-4E4C-A8D2-01F1A2021D68}"/>
              </a:ext>
            </a:extLst>
          </p:cNvPr>
          <p:cNvSpPr/>
          <p:nvPr/>
        </p:nvSpPr>
        <p:spPr>
          <a:xfrm>
            <a:off x="4169486" y="4858355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6E130980-400D-A54B-9A2B-C245E73508FB}"/>
              </a:ext>
            </a:extLst>
          </p:cNvPr>
          <p:cNvSpPr txBox="1"/>
          <p:nvPr/>
        </p:nvSpPr>
        <p:spPr>
          <a:xfrm>
            <a:off x="4378292" y="4599370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1.99</a:t>
            </a:r>
            <a:endParaRPr kumimoji="1" lang="zh-CN" altLang="en-US" sz="8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EC20FBF-5871-4946-AB3E-3276173EF74F}"/>
                  </a:ext>
                </a:extLst>
              </p:cNvPr>
              <p:cNvSpPr txBox="1"/>
              <p:nvPr/>
            </p:nvSpPr>
            <p:spPr>
              <a:xfrm>
                <a:off x="3805053" y="4858464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id="{AEC20FBF-5871-4946-AB3E-3276173EF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5053" y="4858464"/>
                <a:ext cx="246491" cy="215444"/>
              </a:xfrm>
              <a:prstGeom prst="rect">
                <a:avLst/>
              </a:prstGeom>
              <a:blipFill>
                <a:blip r:embed="rId34"/>
                <a:stretch>
                  <a:fillRect r="-15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三角形 89">
            <a:extLst>
              <a:ext uri="{FF2B5EF4-FFF2-40B4-BE49-F238E27FC236}">
                <a16:creationId xmlns:a16="http://schemas.microsoft.com/office/drawing/2014/main" id="{72F3DD64-A0F6-D848-972E-A0DE9A83D358}"/>
              </a:ext>
            </a:extLst>
          </p:cNvPr>
          <p:cNvSpPr/>
          <p:nvPr/>
        </p:nvSpPr>
        <p:spPr>
          <a:xfrm>
            <a:off x="4167902" y="5168551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E11ACDB-D483-534D-A60D-BD84B39CF37E}"/>
              </a:ext>
            </a:extLst>
          </p:cNvPr>
          <p:cNvSpPr txBox="1"/>
          <p:nvPr/>
        </p:nvSpPr>
        <p:spPr>
          <a:xfrm>
            <a:off x="4387788" y="4884842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3.12</a:t>
            </a:r>
            <a:endParaRPr kumimoji="1" lang="zh-CN" altLang="en-US" sz="800" b="1" i="1" dirty="0"/>
          </a:p>
        </p:txBody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B36BE49-21AB-3947-80C8-98DE7A2E4AC2}"/>
              </a:ext>
            </a:extLst>
          </p:cNvPr>
          <p:cNvSpPr/>
          <p:nvPr/>
        </p:nvSpPr>
        <p:spPr>
          <a:xfrm>
            <a:off x="4182911" y="4586512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7B38069-E23C-534E-9055-68610F6A29F8}"/>
                  </a:ext>
                </a:extLst>
              </p:cNvPr>
              <p:cNvSpPr txBox="1"/>
              <p:nvPr/>
            </p:nvSpPr>
            <p:spPr>
              <a:xfrm>
                <a:off x="3828508" y="514648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93" name="文本框 92">
                <a:extLst>
                  <a:ext uri="{FF2B5EF4-FFF2-40B4-BE49-F238E27FC236}">
                    <a16:creationId xmlns:a16="http://schemas.microsoft.com/office/drawing/2014/main" id="{C7B38069-E23C-534E-9055-68610F6A2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8508" y="5146480"/>
                <a:ext cx="246491" cy="215444"/>
              </a:xfrm>
              <a:prstGeom prst="rect">
                <a:avLst/>
              </a:prstGeom>
              <a:blipFill>
                <a:blip r:embed="rId35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4" name="文本框 93">
            <a:extLst>
              <a:ext uri="{FF2B5EF4-FFF2-40B4-BE49-F238E27FC236}">
                <a16:creationId xmlns:a16="http://schemas.microsoft.com/office/drawing/2014/main" id="{FEF6A199-B0C3-024A-9063-C3C83F9C186B}"/>
              </a:ext>
            </a:extLst>
          </p:cNvPr>
          <p:cNvSpPr txBox="1"/>
          <p:nvPr/>
        </p:nvSpPr>
        <p:spPr>
          <a:xfrm>
            <a:off x="4398421" y="5159783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2.87</a:t>
            </a:r>
            <a:endParaRPr kumimoji="1" lang="zh-CN" altLang="en-US" sz="800" b="1" i="1" dirty="0"/>
          </a:p>
        </p:txBody>
      </p:sp>
      <p:sp>
        <p:nvSpPr>
          <p:cNvPr id="95" name="三角形 94">
            <a:extLst>
              <a:ext uri="{FF2B5EF4-FFF2-40B4-BE49-F238E27FC236}">
                <a16:creationId xmlns:a16="http://schemas.microsoft.com/office/drawing/2014/main" id="{AA23CE98-17AC-0C4E-8EA7-67C61A5A1E21}"/>
              </a:ext>
            </a:extLst>
          </p:cNvPr>
          <p:cNvSpPr/>
          <p:nvPr/>
        </p:nvSpPr>
        <p:spPr>
          <a:xfrm>
            <a:off x="1902537" y="4130105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6" name="三角形 95">
            <a:extLst>
              <a:ext uri="{FF2B5EF4-FFF2-40B4-BE49-F238E27FC236}">
                <a16:creationId xmlns:a16="http://schemas.microsoft.com/office/drawing/2014/main" id="{72211F0C-69C7-9948-965A-31D3A99BC108}"/>
              </a:ext>
            </a:extLst>
          </p:cNvPr>
          <p:cNvSpPr/>
          <p:nvPr/>
        </p:nvSpPr>
        <p:spPr>
          <a:xfrm>
            <a:off x="1959069" y="2530908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EF97535-19CF-9945-830B-5706D69B2C82}"/>
                  </a:ext>
                </a:extLst>
              </p:cNvPr>
              <p:cNvSpPr txBox="1"/>
              <p:nvPr/>
            </p:nvSpPr>
            <p:spPr>
              <a:xfrm>
                <a:off x="1867130" y="4257300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DEF97535-19CF-9945-830B-5706D69B2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7130" y="4257300"/>
                <a:ext cx="357693" cy="215444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F5A0C50-6751-FE42-ACE3-A84115C7A536}"/>
                  </a:ext>
                </a:extLst>
              </p:cNvPr>
              <p:cNvSpPr txBox="1"/>
              <p:nvPr/>
            </p:nvSpPr>
            <p:spPr>
              <a:xfrm>
                <a:off x="1948873" y="2677576"/>
                <a:ext cx="35769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𝟐𝟎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FF5A0C50-6751-FE42-ACE3-A84115C7A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873" y="2677576"/>
                <a:ext cx="357693" cy="215444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F05C6372-D9B1-5844-9542-D0409919467E}"/>
              </a:ext>
            </a:extLst>
          </p:cNvPr>
          <p:cNvCxnSpPr>
            <a:cxnSpLocks/>
          </p:cNvCxnSpPr>
          <p:nvPr/>
        </p:nvCxnSpPr>
        <p:spPr>
          <a:xfrm>
            <a:off x="5019804" y="2004214"/>
            <a:ext cx="13278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5" name="图片 104">
            <a:extLst>
              <a:ext uri="{FF2B5EF4-FFF2-40B4-BE49-F238E27FC236}">
                <a16:creationId xmlns:a16="http://schemas.microsoft.com/office/drawing/2014/main" id="{62C786C2-01A5-9644-8891-700C7E9CFB72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383448" y="1237776"/>
            <a:ext cx="562964" cy="562964"/>
          </a:xfrm>
          <a:prstGeom prst="rect">
            <a:avLst/>
          </a:prstGeom>
        </p:spPr>
      </p:pic>
      <p:sp>
        <p:nvSpPr>
          <p:cNvPr id="106" name="六边形 105">
            <a:extLst>
              <a:ext uri="{FF2B5EF4-FFF2-40B4-BE49-F238E27FC236}">
                <a16:creationId xmlns:a16="http://schemas.microsoft.com/office/drawing/2014/main" id="{38D82BB7-8787-3849-B46A-9FD164B2AA65}"/>
              </a:ext>
            </a:extLst>
          </p:cNvPr>
          <p:cNvSpPr/>
          <p:nvPr/>
        </p:nvSpPr>
        <p:spPr>
          <a:xfrm>
            <a:off x="5175737" y="1092107"/>
            <a:ext cx="900517" cy="812756"/>
          </a:xfrm>
          <a:prstGeom prst="hexagon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D72AB2AE-351E-CF46-A764-BCFF9E72F3CD}"/>
              </a:ext>
            </a:extLst>
          </p:cNvPr>
          <p:cNvSpPr txBox="1"/>
          <p:nvPr/>
        </p:nvSpPr>
        <p:spPr>
          <a:xfrm>
            <a:off x="4933239" y="2020858"/>
            <a:ext cx="1676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Train on clean pool</a:t>
            </a:r>
            <a:endParaRPr kumimoji="1" lang="zh-CN" altLang="en-US" sz="1000" b="1" i="1" dirty="0"/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5BD5F045-42AD-0B4A-948A-75FA1B780DE6}"/>
              </a:ext>
            </a:extLst>
          </p:cNvPr>
          <p:cNvSpPr txBox="1"/>
          <p:nvPr/>
        </p:nvSpPr>
        <p:spPr>
          <a:xfrm>
            <a:off x="6029360" y="2996944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No</a:t>
            </a:r>
            <a:endParaRPr kumimoji="1" lang="zh-CN" altLang="en-US" sz="1000" b="1" i="1" dirty="0"/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D9334C08-63C1-4742-BC36-F0ED0AE5DE91}"/>
              </a:ext>
            </a:extLst>
          </p:cNvPr>
          <p:cNvCxnSpPr>
            <a:cxnSpLocks/>
          </p:cNvCxnSpPr>
          <p:nvPr/>
        </p:nvCxnSpPr>
        <p:spPr>
          <a:xfrm>
            <a:off x="7412125" y="2012849"/>
            <a:ext cx="6579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1" name="文本框 120">
            <a:extLst>
              <a:ext uri="{FF2B5EF4-FFF2-40B4-BE49-F238E27FC236}">
                <a16:creationId xmlns:a16="http://schemas.microsoft.com/office/drawing/2014/main" id="{FF221455-847C-EC42-B050-12071D4C65CE}"/>
              </a:ext>
            </a:extLst>
          </p:cNvPr>
          <p:cNvSpPr txBox="1"/>
          <p:nvPr/>
        </p:nvSpPr>
        <p:spPr>
          <a:xfrm>
            <a:off x="7497486" y="2047578"/>
            <a:ext cx="4872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Yes</a:t>
            </a:r>
            <a:endParaRPr kumimoji="1" lang="zh-CN" altLang="en-US" sz="1000" b="1" i="1" dirty="0"/>
          </a:p>
        </p:txBody>
      </p:sp>
      <p:cxnSp>
        <p:nvCxnSpPr>
          <p:cNvPr id="122" name="直线连接符 121">
            <a:extLst>
              <a:ext uri="{FF2B5EF4-FFF2-40B4-BE49-F238E27FC236}">
                <a16:creationId xmlns:a16="http://schemas.microsoft.com/office/drawing/2014/main" id="{9078FE6D-0A10-4A48-BD1C-E368AF18A34A}"/>
              </a:ext>
            </a:extLst>
          </p:cNvPr>
          <p:cNvCxnSpPr>
            <a:cxnSpLocks/>
          </p:cNvCxnSpPr>
          <p:nvPr/>
        </p:nvCxnSpPr>
        <p:spPr>
          <a:xfrm flipV="1">
            <a:off x="4992099" y="4639958"/>
            <a:ext cx="3689459" cy="1556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8146D0D8-84EC-4E44-AB03-0BD9D302C453}"/>
              </a:ext>
            </a:extLst>
          </p:cNvPr>
          <p:cNvCxnSpPr>
            <a:cxnSpLocks/>
          </p:cNvCxnSpPr>
          <p:nvPr/>
        </p:nvCxnSpPr>
        <p:spPr>
          <a:xfrm flipH="1" flipV="1">
            <a:off x="8678100" y="2940305"/>
            <a:ext cx="1" cy="169459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圆角矩形 146">
            <a:extLst>
              <a:ext uri="{FF2B5EF4-FFF2-40B4-BE49-F238E27FC236}">
                <a16:creationId xmlns:a16="http://schemas.microsoft.com/office/drawing/2014/main" id="{92EBCE0E-DD52-5E4C-8394-929460FB046F}"/>
              </a:ext>
            </a:extLst>
          </p:cNvPr>
          <p:cNvSpPr/>
          <p:nvPr/>
        </p:nvSpPr>
        <p:spPr>
          <a:xfrm>
            <a:off x="8128819" y="1149344"/>
            <a:ext cx="1154392" cy="17037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B1513C9-BD8D-DF4B-ADF0-F8820E3D0A3D}"/>
                  </a:ext>
                </a:extLst>
              </p:cNvPr>
              <p:cNvSpPr txBox="1"/>
              <p:nvPr/>
            </p:nvSpPr>
            <p:spPr>
              <a:xfrm>
                <a:off x="8295160" y="1151598"/>
                <a:ext cx="120799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200" b="1" dirty="0"/>
                  <a:t>Sorted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r>
                          <a:rPr kumimoji="1" lang="en-US" altLang="zh-CN" sz="12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200" b="1" dirty="0"/>
              </a:p>
            </p:txBody>
          </p:sp>
        </mc:Choice>
        <mc:Fallback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6B1513C9-BD8D-DF4B-ADF0-F8820E3D0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160" y="1151598"/>
                <a:ext cx="1207994" cy="276999"/>
              </a:xfrm>
              <a:prstGeom prst="rect">
                <a:avLst/>
              </a:prstGeom>
              <a:blipFill>
                <a:blip r:embed="rId38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D53F8805-208D-AB40-AD33-1E589FB61BD6}"/>
                  </a:ext>
                </a:extLst>
              </p:cNvPr>
              <p:cNvSpPr txBox="1"/>
              <p:nvPr/>
            </p:nvSpPr>
            <p:spPr>
              <a:xfrm>
                <a:off x="8211372" y="1486297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D53F8805-208D-AB40-AD33-1E589FB61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1372" y="1486297"/>
                <a:ext cx="246491" cy="215444"/>
              </a:xfrm>
              <a:prstGeom prst="rect">
                <a:avLst/>
              </a:prstGeom>
              <a:blipFill>
                <a:blip r:embed="rId39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0" name="三角形 149">
            <a:extLst>
              <a:ext uri="{FF2B5EF4-FFF2-40B4-BE49-F238E27FC236}">
                <a16:creationId xmlns:a16="http://schemas.microsoft.com/office/drawing/2014/main" id="{BDA77120-9AA0-9143-83BE-10EFD94673B1}"/>
              </a:ext>
            </a:extLst>
          </p:cNvPr>
          <p:cNvSpPr/>
          <p:nvPr/>
        </p:nvSpPr>
        <p:spPr>
          <a:xfrm>
            <a:off x="8585556" y="148629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66D3082F-8BDB-A74A-BFA1-C17D544D5503}"/>
              </a:ext>
            </a:extLst>
          </p:cNvPr>
          <p:cNvSpPr txBox="1"/>
          <p:nvPr/>
        </p:nvSpPr>
        <p:spPr>
          <a:xfrm>
            <a:off x="8794362" y="148083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3.12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5EF1667B-B0C8-9144-8796-2E89FD46E684}"/>
                  </a:ext>
                </a:extLst>
              </p:cNvPr>
              <p:cNvSpPr txBox="1"/>
              <p:nvPr/>
            </p:nvSpPr>
            <p:spPr>
              <a:xfrm>
                <a:off x="8208324" y="1757569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5EF1667B-B0C8-9144-8796-2E89FD46E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324" y="1757569"/>
                <a:ext cx="246491" cy="215444"/>
              </a:xfrm>
              <a:prstGeom prst="rect">
                <a:avLst/>
              </a:prstGeom>
              <a:blipFill>
                <a:blip r:embed="rId40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三角形 152">
            <a:extLst>
              <a:ext uri="{FF2B5EF4-FFF2-40B4-BE49-F238E27FC236}">
                <a16:creationId xmlns:a16="http://schemas.microsoft.com/office/drawing/2014/main" id="{C50E55F7-985C-3D41-BDEA-0F5BE54400AE}"/>
              </a:ext>
            </a:extLst>
          </p:cNvPr>
          <p:cNvSpPr/>
          <p:nvPr/>
        </p:nvSpPr>
        <p:spPr>
          <a:xfrm>
            <a:off x="8583972" y="1766128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97533798-814B-F646-AC2A-C9698C85698A}"/>
              </a:ext>
            </a:extLst>
          </p:cNvPr>
          <p:cNvSpPr txBox="1"/>
          <p:nvPr/>
        </p:nvSpPr>
        <p:spPr>
          <a:xfrm>
            <a:off x="8806131" y="1770301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2.87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5A58E2F-934A-7A43-A565-585F12E7A860}"/>
                  </a:ext>
                </a:extLst>
              </p:cNvPr>
              <p:cNvSpPr txBox="1"/>
              <p:nvPr/>
            </p:nvSpPr>
            <p:spPr>
              <a:xfrm>
                <a:off x="8217468" y="2022745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45A58E2F-934A-7A43-A565-585F12E7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7468" y="2022745"/>
                <a:ext cx="246491" cy="215444"/>
              </a:xfrm>
              <a:prstGeom prst="rect">
                <a:avLst/>
              </a:prstGeom>
              <a:blipFill>
                <a:blip r:embed="rId41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三角形 155">
            <a:extLst>
              <a:ext uri="{FF2B5EF4-FFF2-40B4-BE49-F238E27FC236}">
                <a16:creationId xmlns:a16="http://schemas.microsoft.com/office/drawing/2014/main" id="{95BCF3DF-ECBE-5D46-A72B-BF245FD67675}"/>
              </a:ext>
            </a:extLst>
          </p:cNvPr>
          <p:cNvSpPr/>
          <p:nvPr/>
        </p:nvSpPr>
        <p:spPr>
          <a:xfrm>
            <a:off x="8585556" y="2064273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A519CE42-2D07-834B-BC69-C327ECE0D28F}"/>
              </a:ext>
            </a:extLst>
          </p:cNvPr>
          <p:cNvSpPr txBox="1"/>
          <p:nvPr/>
        </p:nvSpPr>
        <p:spPr>
          <a:xfrm>
            <a:off x="8794362" y="2051096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2.05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D13A4485-E1A0-BE45-9F35-6F71FAC98477}"/>
                  </a:ext>
                </a:extLst>
              </p:cNvPr>
              <p:cNvSpPr txBox="1"/>
              <p:nvPr/>
            </p:nvSpPr>
            <p:spPr>
              <a:xfrm>
                <a:off x="8221123" y="2310190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𝟏𝟑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D13A4485-E1A0-BE45-9F35-6F71FAC9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123" y="2310190"/>
                <a:ext cx="246491" cy="215444"/>
              </a:xfrm>
              <a:prstGeom prst="rect">
                <a:avLst/>
              </a:prstGeom>
              <a:blipFill>
                <a:blip r:embed="rId42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三角形 158">
            <a:extLst>
              <a:ext uri="{FF2B5EF4-FFF2-40B4-BE49-F238E27FC236}">
                <a16:creationId xmlns:a16="http://schemas.microsoft.com/office/drawing/2014/main" id="{F4F91111-268A-C843-9A0B-C26E431F814F}"/>
              </a:ext>
            </a:extLst>
          </p:cNvPr>
          <p:cNvSpPr/>
          <p:nvPr/>
        </p:nvSpPr>
        <p:spPr>
          <a:xfrm>
            <a:off x="8583972" y="2620277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BCA4B220-03C2-2241-A12C-52D87D016ACB}"/>
              </a:ext>
            </a:extLst>
          </p:cNvPr>
          <p:cNvSpPr txBox="1"/>
          <p:nvPr/>
        </p:nvSpPr>
        <p:spPr>
          <a:xfrm>
            <a:off x="8803858" y="2336568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1.99</a:t>
            </a:r>
            <a:endParaRPr kumimoji="1" lang="zh-CN" altLang="en-US" sz="800" b="1" i="1" dirty="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E26E07A6-6D97-E745-81C0-58B5DC64875D}"/>
              </a:ext>
            </a:extLst>
          </p:cNvPr>
          <p:cNvSpPr/>
          <p:nvPr/>
        </p:nvSpPr>
        <p:spPr>
          <a:xfrm>
            <a:off x="8597417" y="2363540"/>
            <a:ext cx="161365" cy="172122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219636D-8F11-DD4B-B5EA-E0B1DB2E498D}"/>
                  </a:ext>
                </a:extLst>
              </p:cNvPr>
              <p:cNvSpPr txBox="1"/>
              <p:nvPr/>
            </p:nvSpPr>
            <p:spPr>
              <a:xfrm>
                <a:off x="8233945" y="2598206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5219636D-8F11-DD4B-B5EA-E0B1DB2E4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3945" y="2598206"/>
                <a:ext cx="246491" cy="215444"/>
              </a:xfrm>
              <a:prstGeom prst="rect">
                <a:avLst/>
              </a:prstGeom>
              <a:blipFill>
                <a:blip r:embed="rId43"/>
                <a:stretch>
                  <a:fillRect r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" name="文本框 162">
            <a:extLst>
              <a:ext uri="{FF2B5EF4-FFF2-40B4-BE49-F238E27FC236}">
                <a16:creationId xmlns:a16="http://schemas.microsoft.com/office/drawing/2014/main" id="{1B814822-9C04-FC47-9A49-A29D015F0D41}"/>
              </a:ext>
            </a:extLst>
          </p:cNvPr>
          <p:cNvSpPr txBox="1"/>
          <p:nvPr/>
        </p:nvSpPr>
        <p:spPr>
          <a:xfrm>
            <a:off x="8803858" y="2611509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dirty="0"/>
              <a:t>1.96</a:t>
            </a:r>
            <a:endParaRPr kumimoji="1" lang="zh-CN" altLang="en-US" sz="800" b="1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CD3E564B-D3EB-0144-B52F-2372FD1F1537}"/>
                  </a:ext>
                </a:extLst>
              </p:cNvPr>
              <p:cNvSpPr txBox="1"/>
              <p:nvPr/>
            </p:nvSpPr>
            <p:spPr>
              <a:xfrm>
                <a:off x="5233429" y="4668227"/>
                <a:ext cx="32522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Stage III: Influence Evaluation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kumimoji="1" lang="en-US" altLang="zh-CN" sz="14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kumimoji="1" lang="zh-CN" altLang="en-US" sz="1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84" name="文本框 183">
                <a:extLst>
                  <a:ext uri="{FF2B5EF4-FFF2-40B4-BE49-F238E27FC236}">
                    <a16:creationId xmlns:a16="http://schemas.microsoft.com/office/drawing/2014/main" id="{CD3E564B-D3EB-0144-B52F-2372FD1F15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29" y="4668227"/>
                <a:ext cx="3252222" cy="307777"/>
              </a:xfrm>
              <a:prstGeom prst="rect">
                <a:avLst/>
              </a:prstGeom>
              <a:blipFill>
                <a:blip r:embed="rId44"/>
                <a:stretch>
                  <a:fillRect t="-4000" b="-1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5" name="文本框 184">
            <a:extLst>
              <a:ext uri="{FF2B5EF4-FFF2-40B4-BE49-F238E27FC236}">
                <a16:creationId xmlns:a16="http://schemas.microsoft.com/office/drawing/2014/main" id="{2056F0E7-C2C5-0C46-BCC2-82C26D8CE5E5}"/>
              </a:ext>
            </a:extLst>
          </p:cNvPr>
          <p:cNvSpPr txBox="1"/>
          <p:nvPr/>
        </p:nvSpPr>
        <p:spPr>
          <a:xfrm>
            <a:off x="5372857" y="499863"/>
            <a:ext cx="29733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II: Loss Entropy Early-stop</a:t>
            </a:r>
            <a:endParaRPr kumimoji="1" lang="zh-CN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6" name="直线箭头连接符 185">
            <a:extLst>
              <a:ext uri="{FF2B5EF4-FFF2-40B4-BE49-F238E27FC236}">
                <a16:creationId xmlns:a16="http://schemas.microsoft.com/office/drawing/2014/main" id="{03AB47E8-3AC7-F64C-84DF-3542FC9DE48D}"/>
              </a:ext>
            </a:extLst>
          </p:cNvPr>
          <p:cNvCxnSpPr>
            <a:cxnSpLocks/>
          </p:cNvCxnSpPr>
          <p:nvPr/>
        </p:nvCxnSpPr>
        <p:spPr>
          <a:xfrm>
            <a:off x="9398359" y="2033637"/>
            <a:ext cx="65796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FC7C2EF-17AD-5C4E-813D-45171D9909B8}"/>
              </a:ext>
            </a:extLst>
          </p:cNvPr>
          <p:cNvSpPr txBox="1"/>
          <p:nvPr/>
        </p:nvSpPr>
        <p:spPr>
          <a:xfrm>
            <a:off x="9296579" y="2050503"/>
            <a:ext cx="934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="1" i="1" dirty="0"/>
              <a:t>Add top-k</a:t>
            </a:r>
            <a:endParaRPr kumimoji="1" lang="zh-CN" altLang="en-US" sz="1000" b="1" i="1" dirty="0"/>
          </a:p>
        </p:txBody>
      </p:sp>
      <p:sp>
        <p:nvSpPr>
          <p:cNvPr id="190" name="圆角矩形 189">
            <a:extLst>
              <a:ext uri="{FF2B5EF4-FFF2-40B4-BE49-F238E27FC236}">
                <a16:creationId xmlns:a16="http://schemas.microsoft.com/office/drawing/2014/main" id="{22BE2272-F3B3-C341-993B-A1D603EDC921}"/>
              </a:ext>
            </a:extLst>
          </p:cNvPr>
          <p:cNvSpPr/>
          <p:nvPr/>
        </p:nvSpPr>
        <p:spPr>
          <a:xfrm>
            <a:off x="10163959" y="1290580"/>
            <a:ext cx="1666571" cy="141870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EA7853C4-9208-BB45-8B15-0226121CA532}"/>
              </a:ext>
            </a:extLst>
          </p:cNvPr>
          <p:cNvSpPr txBox="1"/>
          <p:nvPr/>
        </p:nvSpPr>
        <p:spPr>
          <a:xfrm>
            <a:off x="10260396" y="1309214"/>
            <a:ext cx="16389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Detected</a:t>
            </a:r>
            <a:r>
              <a:rPr kumimoji="1" lang="zh-CN" altLang="en-US" sz="1200" b="1" dirty="0"/>
              <a:t> </a:t>
            </a:r>
            <a:r>
              <a:rPr kumimoji="1" lang="en-US" altLang="zh-CN" sz="1200" b="1" dirty="0"/>
              <a:t>Noisy set</a:t>
            </a:r>
            <a:endParaRPr kumimoji="1" lang="zh-CN" altLang="en-US" sz="1200" b="1" dirty="0"/>
          </a:p>
        </p:txBody>
      </p:sp>
      <p:cxnSp>
        <p:nvCxnSpPr>
          <p:cNvPr id="192" name="直线连接符 191">
            <a:extLst>
              <a:ext uri="{FF2B5EF4-FFF2-40B4-BE49-F238E27FC236}">
                <a16:creationId xmlns:a16="http://schemas.microsoft.com/office/drawing/2014/main" id="{DB7DA23E-35AD-894F-8D82-1D6EE6220016}"/>
              </a:ext>
            </a:extLst>
          </p:cNvPr>
          <p:cNvCxnSpPr>
            <a:cxnSpLocks/>
          </p:cNvCxnSpPr>
          <p:nvPr/>
        </p:nvCxnSpPr>
        <p:spPr>
          <a:xfrm>
            <a:off x="6853084" y="2291128"/>
            <a:ext cx="1" cy="69619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直线连接符 192">
            <a:extLst>
              <a:ext uri="{FF2B5EF4-FFF2-40B4-BE49-F238E27FC236}">
                <a16:creationId xmlns:a16="http://schemas.microsoft.com/office/drawing/2014/main" id="{A75A1755-7C6A-1A48-A152-07FC158B76E8}"/>
              </a:ext>
            </a:extLst>
          </p:cNvPr>
          <p:cNvCxnSpPr>
            <a:cxnSpLocks/>
          </p:cNvCxnSpPr>
          <p:nvPr/>
        </p:nvCxnSpPr>
        <p:spPr>
          <a:xfrm>
            <a:off x="5633884" y="2988309"/>
            <a:ext cx="12192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直线箭头连接符 193">
            <a:extLst>
              <a:ext uri="{FF2B5EF4-FFF2-40B4-BE49-F238E27FC236}">
                <a16:creationId xmlns:a16="http://schemas.microsoft.com/office/drawing/2014/main" id="{F07D9225-7B8C-1C42-AD68-748B2211902E}"/>
              </a:ext>
            </a:extLst>
          </p:cNvPr>
          <p:cNvCxnSpPr>
            <a:cxnSpLocks/>
          </p:cNvCxnSpPr>
          <p:nvPr/>
        </p:nvCxnSpPr>
        <p:spPr>
          <a:xfrm flipV="1">
            <a:off x="5641949" y="2389038"/>
            <a:ext cx="0" cy="59828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5EAC627C-8549-3C4C-AD6D-1E49FFE7B725}"/>
                  </a:ext>
                </a:extLst>
              </p:cNvPr>
              <p:cNvSpPr txBox="1"/>
              <p:nvPr/>
            </p:nvSpPr>
            <p:spPr>
              <a:xfrm>
                <a:off x="10477709" y="1655003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197" name="文本框 196">
                <a:extLst>
                  <a:ext uri="{FF2B5EF4-FFF2-40B4-BE49-F238E27FC236}">
                    <a16:creationId xmlns:a16="http://schemas.microsoft.com/office/drawing/2014/main" id="{5EAC627C-8549-3C4C-AD6D-1E49FFE7B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7709" y="1655003"/>
                <a:ext cx="246491" cy="215444"/>
              </a:xfrm>
              <a:prstGeom prst="rect">
                <a:avLst/>
              </a:prstGeom>
              <a:blipFill>
                <a:blip r:embed="rId45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三角形 197">
            <a:extLst>
              <a:ext uri="{FF2B5EF4-FFF2-40B4-BE49-F238E27FC236}">
                <a16:creationId xmlns:a16="http://schemas.microsoft.com/office/drawing/2014/main" id="{3574E588-C747-4840-9865-26722FBE6DF4}"/>
              </a:ext>
            </a:extLst>
          </p:cNvPr>
          <p:cNvSpPr/>
          <p:nvPr/>
        </p:nvSpPr>
        <p:spPr>
          <a:xfrm>
            <a:off x="10851893" y="1655003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7052FF03-D365-0B4B-AD8C-F603CE246419}"/>
              </a:ext>
            </a:extLst>
          </p:cNvPr>
          <p:cNvSpPr txBox="1"/>
          <p:nvPr/>
        </p:nvSpPr>
        <p:spPr>
          <a:xfrm>
            <a:off x="11060699" y="1649543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3.12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C456D876-6358-984F-8D89-6CEE01F130BE}"/>
                  </a:ext>
                </a:extLst>
              </p:cNvPr>
              <p:cNvSpPr txBox="1"/>
              <p:nvPr/>
            </p:nvSpPr>
            <p:spPr>
              <a:xfrm>
                <a:off x="10474661" y="1926275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𝟏𝟗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C456D876-6358-984F-8D89-6CEE01F13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4661" y="1926275"/>
                <a:ext cx="246491" cy="215444"/>
              </a:xfrm>
              <a:prstGeom prst="rect">
                <a:avLst/>
              </a:prstGeom>
              <a:blipFill>
                <a:blip r:embed="rId46"/>
                <a:stretch>
                  <a:fillRect r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1" name="三角形 200">
            <a:extLst>
              <a:ext uri="{FF2B5EF4-FFF2-40B4-BE49-F238E27FC236}">
                <a16:creationId xmlns:a16="http://schemas.microsoft.com/office/drawing/2014/main" id="{9A9EFAAE-9CA8-324D-9E84-F8C429AD2CDD}"/>
              </a:ext>
            </a:extLst>
          </p:cNvPr>
          <p:cNvSpPr/>
          <p:nvPr/>
        </p:nvSpPr>
        <p:spPr>
          <a:xfrm>
            <a:off x="10850309" y="1934834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5D258C6C-C254-FA46-BC0B-4F904E82FB33}"/>
              </a:ext>
            </a:extLst>
          </p:cNvPr>
          <p:cNvSpPr txBox="1"/>
          <p:nvPr/>
        </p:nvSpPr>
        <p:spPr>
          <a:xfrm>
            <a:off x="11072468" y="1939007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2.87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F2EC964-A75B-2344-9EBD-28D24F367AB3}"/>
                  </a:ext>
                </a:extLst>
              </p:cNvPr>
              <p:cNvSpPr txBox="1"/>
              <p:nvPr/>
            </p:nvSpPr>
            <p:spPr>
              <a:xfrm>
                <a:off x="10483805" y="2191451"/>
                <a:ext cx="246491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zh-CN" sz="800" b="1" i="1" smtClean="0">
                              <a:latin typeface="Cambria Math" panose="02040503050406030204" pitchFamily="18" charset="0"/>
                            </a:rPr>
                            <m:t>𝟏𝟖</m:t>
                          </m:r>
                        </m:sub>
                      </m:sSub>
                    </m:oMath>
                  </m:oMathPara>
                </a14:m>
                <a:endParaRPr kumimoji="1" lang="zh-CN" altLang="en-US" sz="800" b="1" dirty="0"/>
              </a:p>
            </p:txBody>
          </p:sp>
        </mc:Choice>
        <mc:Fallback>
          <p:sp>
            <p:nvSpPr>
              <p:cNvPr id="203" name="文本框 202">
                <a:extLst>
                  <a:ext uri="{FF2B5EF4-FFF2-40B4-BE49-F238E27FC236}">
                    <a16:creationId xmlns:a16="http://schemas.microsoft.com/office/drawing/2014/main" id="{6F2EC964-A75B-2344-9EBD-28D24F367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3805" y="2191451"/>
                <a:ext cx="246491" cy="215444"/>
              </a:xfrm>
              <a:prstGeom prst="rect">
                <a:avLst/>
              </a:prstGeom>
              <a:blipFill>
                <a:blip r:embed="rId47"/>
                <a:stretch>
                  <a:fillRect r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三角形 203">
            <a:extLst>
              <a:ext uri="{FF2B5EF4-FFF2-40B4-BE49-F238E27FC236}">
                <a16:creationId xmlns:a16="http://schemas.microsoft.com/office/drawing/2014/main" id="{E84D2BC9-027F-F647-9E43-05FB120A9EE3}"/>
              </a:ext>
            </a:extLst>
          </p:cNvPr>
          <p:cNvSpPr/>
          <p:nvPr/>
        </p:nvSpPr>
        <p:spPr>
          <a:xfrm>
            <a:off x="10851893" y="2232979"/>
            <a:ext cx="188257" cy="164054"/>
          </a:xfrm>
          <a:prstGeom prst="triangl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5" name="文本框 204">
            <a:extLst>
              <a:ext uri="{FF2B5EF4-FFF2-40B4-BE49-F238E27FC236}">
                <a16:creationId xmlns:a16="http://schemas.microsoft.com/office/drawing/2014/main" id="{14D6F9B4-34E3-ED40-9B8F-AC177D256C20}"/>
              </a:ext>
            </a:extLst>
          </p:cNvPr>
          <p:cNvSpPr txBox="1"/>
          <p:nvPr/>
        </p:nvSpPr>
        <p:spPr>
          <a:xfrm>
            <a:off x="11060699" y="2219802"/>
            <a:ext cx="4158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" b="1" i="1" u="sng" dirty="0">
                <a:solidFill>
                  <a:srgbClr val="FF0000"/>
                </a:solidFill>
              </a:rPr>
              <a:t>2.05</a:t>
            </a:r>
            <a:endParaRPr kumimoji="1" lang="zh-CN" altLang="en-US" sz="800" b="1" i="1" u="sng" dirty="0">
              <a:solidFill>
                <a:srgbClr val="FF0000"/>
              </a:solidFill>
            </a:endParaRPr>
          </a:p>
        </p:txBody>
      </p:sp>
      <p:sp>
        <p:nvSpPr>
          <p:cNvPr id="206" name="文本框 205">
            <a:extLst>
              <a:ext uri="{FF2B5EF4-FFF2-40B4-BE49-F238E27FC236}">
                <a16:creationId xmlns:a16="http://schemas.microsoft.com/office/drawing/2014/main" id="{402AAF84-64AF-F54D-813F-A04A38337EDE}"/>
              </a:ext>
            </a:extLst>
          </p:cNvPr>
          <p:cNvSpPr txBox="1"/>
          <p:nvPr/>
        </p:nvSpPr>
        <p:spPr>
          <a:xfrm>
            <a:off x="10760935" y="2436663"/>
            <a:ext cx="3597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dirty="0"/>
              <a:t>. . .</a:t>
            </a:r>
            <a:endParaRPr kumimoji="1" lang="zh-CN" altLang="en-US" sz="1200" b="1" dirty="0"/>
          </a:p>
        </p:txBody>
      </p: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B784A6C7-4EB4-E641-AF09-38E29DA0CB28}"/>
              </a:ext>
            </a:extLst>
          </p:cNvPr>
          <p:cNvCxnSpPr>
            <a:cxnSpLocks/>
          </p:cNvCxnSpPr>
          <p:nvPr/>
        </p:nvCxnSpPr>
        <p:spPr>
          <a:xfrm>
            <a:off x="10944796" y="2825062"/>
            <a:ext cx="0" cy="34085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线连接符 207">
            <a:extLst>
              <a:ext uri="{FF2B5EF4-FFF2-40B4-BE49-F238E27FC236}">
                <a16:creationId xmlns:a16="http://schemas.microsoft.com/office/drawing/2014/main" id="{5D772A23-95B4-B342-A8B0-AB2C14394053}"/>
              </a:ext>
            </a:extLst>
          </p:cNvPr>
          <p:cNvCxnSpPr>
            <a:cxnSpLocks/>
          </p:cNvCxnSpPr>
          <p:nvPr/>
        </p:nvCxnSpPr>
        <p:spPr>
          <a:xfrm flipH="1">
            <a:off x="1244721" y="6243485"/>
            <a:ext cx="970841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线箭头连接符 208">
            <a:extLst>
              <a:ext uri="{FF2B5EF4-FFF2-40B4-BE49-F238E27FC236}">
                <a16:creationId xmlns:a16="http://schemas.microsoft.com/office/drawing/2014/main" id="{63B4C0F2-51A2-5447-BFED-0D4151770187}"/>
              </a:ext>
            </a:extLst>
          </p:cNvPr>
          <p:cNvCxnSpPr>
            <a:cxnSpLocks/>
          </p:cNvCxnSpPr>
          <p:nvPr/>
        </p:nvCxnSpPr>
        <p:spPr>
          <a:xfrm flipV="1">
            <a:off x="1255924" y="5411210"/>
            <a:ext cx="0" cy="8322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A4D349CB-662D-6647-900B-5E5C7F0323FE}"/>
                  </a:ext>
                </a:extLst>
              </p:cNvPr>
              <p:cNvSpPr txBox="1"/>
              <p:nvPr/>
            </p:nvSpPr>
            <p:spPr>
              <a:xfrm>
                <a:off x="4077766" y="5950942"/>
                <a:ext cx="4036468" cy="260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Delete detected top-k from</a:t>
                </a:r>
                <a:r>
                  <a:rPr kumimoji="1" lang="en-US" altLang="zh-CN" sz="1000" b="1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𝑫</m:t>
                        </m:r>
                      </m:e>
                      <m:sub>
                        <m:r>
                          <a:rPr kumimoji="1" lang="en-US" altLang="zh-CN" sz="1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𝒏𝒐𝒊𝒔𝒚</m:t>
                        </m:r>
                      </m:sub>
                    </m:sSub>
                  </m:oMath>
                </a14:m>
                <a:r>
                  <a:rPr kumimoji="1" lang="en-US" altLang="zh-CN" sz="10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endParaRPr kumimoji="1" lang="zh-CN" altLang="en-US" sz="10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3" name="文本框 222">
                <a:extLst>
                  <a:ext uri="{FF2B5EF4-FFF2-40B4-BE49-F238E27FC236}">
                    <a16:creationId xmlns:a16="http://schemas.microsoft.com/office/drawing/2014/main" id="{A4D349CB-662D-6647-900B-5E5C7F032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7766" y="5950942"/>
                <a:ext cx="4036468" cy="260328"/>
              </a:xfrm>
              <a:prstGeom prst="rect">
                <a:avLst/>
              </a:prstGeom>
              <a:blipFill>
                <a:blip r:embed="rId48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" name="椭圆 223">
            <a:extLst>
              <a:ext uri="{FF2B5EF4-FFF2-40B4-BE49-F238E27FC236}">
                <a16:creationId xmlns:a16="http://schemas.microsoft.com/office/drawing/2014/main" id="{4F1A3D9A-9A4F-4043-BD5B-B97208D489F6}"/>
              </a:ext>
            </a:extLst>
          </p:cNvPr>
          <p:cNvSpPr/>
          <p:nvPr/>
        </p:nvSpPr>
        <p:spPr>
          <a:xfrm rot="19721041">
            <a:off x="1162705" y="4067714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72ECFC19-0BC1-CC4D-A599-91C23EDC1C31}"/>
              </a:ext>
            </a:extLst>
          </p:cNvPr>
          <p:cNvSpPr/>
          <p:nvPr/>
        </p:nvSpPr>
        <p:spPr>
          <a:xfrm rot="19721041">
            <a:off x="1745455" y="4137250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AFECADF6-3650-5C47-B498-4A89B2200707}"/>
              </a:ext>
            </a:extLst>
          </p:cNvPr>
          <p:cNvSpPr/>
          <p:nvPr/>
        </p:nvSpPr>
        <p:spPr>
          <a:xfrm rot="19721041">
            <a:off x="768031" y="4655611"/>
            <a:ext cx="554020" cy="328110"/>
          </a:xfrm>
          <a:prstGeom prst="ellipse">
            <a:avLst/>
          </a:prstGeom>
          <a:noFill/>
          <a:ln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38" name="直线连接符 237">
            <a:extLst>
              <a:ext uri="{FF2B5EF4-FFF2-40B4-BE49-F238E27FC236}">
                <a16:creationId xmlns:a16="http://schemas.microsoft.com/office/drawing/2014/main" id="{AA2079D5-7937-0B4F-AF36-F7AD8753310F}"/>
              </a:ext>
            </a:extLst>
          </p:cNvPr>
          <p:cNvCxnSpPr>
            <a:cxnSpLocks/>
          </p:cNvCxnSpPr>
          <p:nvPr/>
        </p:nvCxnSpPr>
        <p:spPr>
          <a:xfrm>
            <a:off x="1270525" y="4184471"/>
            <a:ext cx="365481" cy="22757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9" name="直线连接符 238">
            <a:extLst>
              <a:ext uri="{FF2B5EF4-FFF2-40B4-BE49-F238E27FC236}">
                <a16:creationId xmlns:a16="http://schemas.microsoft.com/office/drawing/2014/main" id="{7AC77CFE-3F40-A141-AFE2-49119958C1E9}"/>
              </a:ext>
            </a:extLst>
          </p:cNvPr>
          <p:cNvCxnSpPr>
            <a:cxnSpLocks/>
            <a:endCxn id="224" idx="3"/>
          </p:cNvCxnSpPr>
          <p:nvPr/>
        </p:nvCxnSpPr>
        <p:spPr>
          <a:xfrm flipH="1">
            <a:off x="1332669" y="4031718"/>
            <a:ext cx="196837" cy="400963"/>
          </a:xfrm>
          <a:prstGeom prst="line">
            <a:avLst/>
          </a:prstGeom>
          <a:ln w="1270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7" name="直线连接符 246">
            <a:extLst>
              <a:ext uri="{FF2B5EF4-FFF2-40B4-BE49-F238E27FC236}">
                <a16:creationId xmlns:a16="http://schemas.microsoft.com/office/drawing/2014/main" id="{A3EC1B16-6AFB-974C-9CD2-21E338579981}"/>
              </a:ext>
            </a:extLst>
          </p:cNvPr>
          <p:cNvCxnSpPr>
            <a:cxnSpLocks/>
          </p:cNvCxnSpPr>
          <p:nvPr/>
        </p:nvCxnSpPr>
        <p:spPr>
          <a:xfrm>
            <a:off x="1834405" y="4245431"/>
            <a:ext cx="365481" cy="2275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8" name="直线连接符 247">
            <a:extLst>
              <a:ext uri="{FF2B5EF4-FFF2-40B4-BE49-F238E27FC236}">
                <a16:creationId xmlns:a16="http://schemas.microsoft.com/office/drawing/2014/main" id="{E14C491C-B8CC-5140-8C3B-683CAC89C0A2}"/>
              </a:ext>
            </a:extLst>
          </p:cNvPr>
          <p:cNvCxnSpPr>
            <a:cxnSpLocks/>
          </p:cNvCxnSpPr>
          <p:nvPr/>
        </p:nvCxnSpPr>
        <p:spPr>
          <a:xfrm flipH="1">
            <a:off x="1896549" y="4092678"/>
            <a:ext cx="196837" cy="40096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9" name="直线连接符 248">
            <a:extLst>
              <a:ext uri="{FF2B5EF4-FFF2-40B4-BE49-F238E27FC236}">
                <a16:creationId xmlns:a16="http://schemas.microsoft.com/office/drawing/2014/main" id="{0351268B-B963-144C-BEDF-11BEB3355236}"/>
              </a:ext>
            </a:extLst>
          </p:cNvPr>
          <p:cNvCxnSpPr>
            <a:cxnSpLocks/>
          </p:cNvCxnSpPr>
          <p:nvPr/>
        </p:nvCxnSpPr>
        <p:spPr>
          <a:xfrm>
            <a:off x="920005" y="4766639"/>
            <a:ext cx="365481" cy="22757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直线连接符 249">
            <a:extLst>
              <a:ext uri="{FF2B5EF4-FFF2-40B4-BE49-F238E27FC236}">
                <a16:creationId xmlns:a16="http://schemas.microsoft.com/office/drawing/2014/main" id="{CC4270B0-8A5B-AE48-B830-521527DD7BF1}"/>
              </a:ext>
            </a:extLst>
          </p:cNvPr>
          <p:cNvCxnSpPr>
            <a:cxnSpLocks/>
          </p:cNvCxnSpPr>
          <p:nvPr/>
        </p:nvCxnSpPr>
        <p:spPr>
          <a:xfrm flipH="1">
            <a:off x="982149" y="4613886"/>
            <a:ext cx="196837" cy="40096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4" name="直线箭头连接符 253">
            <a:extLst>
              <a:ext uri="{FF2B5EF4-FFF2-40B4-BE49-F238E27FC236}">
                <a16:creationId xmlns:a16="http://schemas.microsoft.com/office/drawing/2014/main" id="{4558490E-8761-E84E-A8A1-B8CEA2BAE61F}"/>
              </a:ext>
            </a:extLst>
          </p:cNvPr>
          <p:cNvCxnSpPr>
            <a:cxnSpLocks/>
          </p:cNvCxnSpPr>
          <p:nvPr/>
        </p:nvCxnSpPr>
        <p:spPr>
          <a:xfrm flipV="1">
            <a:off x="6460602" y="1182545"/>
            <a:ext cx="0" cy="8218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5" name="直线箭头连接符 254">
            <a:extLst>
              <a:ext uri="{FF2B5EF4-FFF2-40B4-BE49-F238E27FC236}">
                <a16:creationId xmlns:a16="http://schemas.microsoft.com/office/drawing/2014/main" id="{C95ADD97-6DD7-9D44-820A-4A8BB41A3B7B}"/>
              </a:ext>
            </a:extLst>
          </p:cNvPr>
          <p:cNvCxnSpPr>
            <a:cxnSpLocks/>
          </p:cNvCxnSpPr>
          <p:nvPr/>
        </p:nvCxnSpPr>
        <p:spPr>
          <a:xfrm flipV="1">
            <a:off x="6460602" y="2004348"/>
            <a:ext cx="843023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文本框 259">
            <a:extLst>
              <a:ext uri="{FF2B5EF4-FFF2-40B4-BE49-F238E27FC236}">
                <a16:creationId xmlns:a16="http://schemas.microsoft.com/office/drawing/2014/main" id="{FCBBA1E7-EC2B-2B4B-8429-7041F4B5C496}"/>
              </a:ext>
            </a:extLst>
          </p:cNvPr>
          <p:cNvSpPr txBox="1"/>
          <p:nvPr/>
        </p:nvSpPr>
        <p:spPr>
          <a:xfrm>
            <a:off x="6517910" y="2024844"/>
            <a:ext cx="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b="1" i="1" dirty="0">
                <a:solidFill>
                  <a:srgbClr val="FF0000"/>
                </a:solidFill>
              </a:rPr>
              <a:t>STOP ?</a:t>
            </a:r>
            <a:endParaRPr kumimoji="1" lang="zh-CN" altLang="en-US" sz="1200" b="1" i="1" dirty="0">
              <a:solidFill>
                <a:srgbClr val="FF0000"/>
              </a:solidFill>
            </a:endParaRPr>
          </a:p>
        </p:txBody>
      </p:sp>
      <p:sp>
        <p:nvSpPr>
          <p:cNvPr id="266" name="任意形状 265">
            <a:extLst>
              <a:ext uri="{FF2B5EF4-FFF2-40B4-BE49-F238E27FC236}">
                <a16:creationId xmlns:a16="http://schemas.microsoft.com/office/drawing/2014/main" id="{79AC91A8-951D-B34D-B601-81D02709B2A2}"/>
              </a:ext>
            </a:extLst>
          </p:cNvPr>
          <p:cNvSpPr/>
          <p:nvPr/>
        </p:nvSpPr>
        <p:spPr>
          <a:xfrm rot="21382375">
            <a:off x="6472225" y="1342593"/>
            <a:ext cx="706056" cy="671470"/>
          </a:xfrm>
          <a:custGeom>
            <a:avLst/>
            <a:gdLst>
              <a:gd name="connsiteX0" fmla="*/ 0 w 706056"/>
              <a:gd name="connsiteY0" fmla="*/ 625171 h 671470"/>
              <a:gd name="connsiteX1" fmla="*/ 347241 w 706056"/>
              <a:gd name="connsiteY1" fmla="*/ 138 h 671470"/>
              <a:gd name="connsiteX2" fmla="*/ 706056 w 706056"/>
              <a:gd name="connsiteY2" fmla="*/ 671470 h 671470"/>
              <a:gd name="connsiteX3" fmla="*/ 706056 w 706056"/>
              <a:gd name="connsiteY3" fmla="*/ 671470 h 671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6056" h="671470">
                <a:moveTo>
                  <a:pt x="0" y="625171"/>
                </a:moveTo>
                <a:cubicBezTo>
                  <a:pt x="114782" y="308796"/>
                  <a:pt x="229565" y="-7579"/>
                  <a:pt x="347241" y="138"/>
                </a:cubicBezTo>
                <a:cubicBezTo>
                  <a:pt x="464917" y="7854"/>
                  <a:pt x="706056" y="671470"/>
                  <a:pt x="706056" y="671470"/>
                </a:cubicBezTo>
                <a:lnTo>
                  <a:pt x="706056" y="671470"/>
                </a:lnTo>
              </a:path>
            </a:pathLst>
          </a:custGeom>
          <a:solidFill>
            <a:schemeClr val="accent6">
              <a:lumMod val="20000"/>
              <a:lumOff val="80000"/>
              <a:alpha val="58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4244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1989</TotalTime>
  <Words>116</Words>
  <Application>Microsoft Macintosh PowerPoint</Application>
  <PresentationFormat>宽屏</PresentationFormat>
  <Paragraphs>77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r1jin</dc:creator>
  <cp:lastModifiedBy>r1jin</cp:lastModifiedBy>
  <cp:revision>64</cp:revision>
  <dcterms:created xsi:type="dcterms:W3CDTF">2025-03-02T11:11:56Z</dcterms:created>
  <dcterms:modified xsi:type="dcterms:W3CDTF">2025-03-10T07:16:57Z</dcterms:modified>
</cp:coreProperties>
</file>