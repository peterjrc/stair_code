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F2F8"/>
    <a:srgbClr val="DFF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281"/>
  </p:normalViewPr>
  <p:slideViewPr>
    <p:cSldViewPr snapToGrid="0" snapToObjects="1">
      <p:cViewPr>
        <p:scale>
          <a:sx n="110" d="100"/>
          <a:sy n="110" d="100"/>
        </p:scale>
        <p:origin x="87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E5B71-3F33-C649-99B7-12DD3EF47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C5B7D1-8828-B045-9740-0C19ADEC3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A2E7A1-D950-A44C-AFE2-82F162C8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1A079-0830-B042-93B9-BB108F87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77D56-C03F-0E47-BEAD-CBB4F42B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048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B1EE9-62F0-714B-9C2B-CC0FC819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AF5EBD-2A1C-4845-B04C-4617D423E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BD508-5780-FE4F-B204-3EB3C244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7A9D1-840F-3B4A-84E2-42164CB3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178976-EA0E-484B-BF5C-FE2B96111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038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885DE-A811-D149-8527-FCB73778D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0EDF81-AA20-CE47-8DBB-4AAB0B74C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EE81F-00E9-6B44-8245-7B2D0079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3BCF28-314E-9540-AD74-72ED1F1D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33AD3-DB1B-C14E-9F71-CDA245FB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994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DE9FB-DE84-6B4E-88AD-91E80898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6A018-2D7D-A847-87D2-27930FF0A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58B18E-3C35-2A44-B782-2672FC638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A92F72-C6CF-F049-93A1-0A5A449E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A4AF23-3E9B-D343-85F7-4B273D56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0CA23B-44E4-1E48-BF1D-868565F9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985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9B0DA-DA13-2D44-9335-147E1B24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FA9DDD-9629-9F4A-9741-460A939F4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9888BB-0060-7645-BD37-60BC4F94B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AB1135-4616-7C4E-9203-BA6262E47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B6B8DD-F7A5-E64C-8653-D6078D62B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9C576E-9FDE-F142-B32B-FFEF931B9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A43D8A-8DD7-534B-BC85-F43A5BEF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89F844-F740-614F-9796-8F7008E8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664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5B0F0-D0B6-A049-86BE-1BDCC288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2ED5B8-57A2-9245-AFC3-BCD364BE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BA77BE-5D88-9545-A9B5-239807ED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C3D693-C23F-3A41-8B2E-82CB6808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460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53CAEC-7915-2642-96C0-C583693C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06DDE7-967F-F14A-9771-3B560D465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B2AC70-1949-1B4C-BEC2-4C61564B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969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122F0-1B32-5A41-925E-85A892D0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FDCDB-3036-D844-9B91-ECDB1BD88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8DBE8-1C2A-1F4F-A761-40E8AAD44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3A4E7C-98FD-2E4F-AC3B-F1AD594B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F58759-F090-1A4C-B46D-9BB82D095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B2AC0A-D22B-454E-AE9B-816970C5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4216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516FF-9C7D-7241-B232-F60E58394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9C5D8-B4EF-2444-B30A-D5E8D999F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C14491-8885-BE4F-ACD6-E56D18BEF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147E0A-3CB9-AE4C-BD53-BA23E5E2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18E070-4EB7-264D-A9B8-376D01C2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79E359-D4AB-E348-810C-CDD780D5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284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6AE9-CE91-C74F-8623-AA6DB1C3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817F3D-E099-524F-A13C-DF35601FA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708FC-0EA8-674B-815D-F56A7D73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050678-7CC6-1C42-BF9F-68663524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58E7C-10C0-3D4D-AA7F-8C952644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48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5C9752-74EA-AF4C-BA18-6E091EA0B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A7D08B-DF9E-8A4F-981C-397EC5D67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70033-04BB-A645-A1C1-8ABC730A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BED1B2-3677-C14C-9055-EDCCDB06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3F65D2-BA0D-2C44-8147-DC031BCA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382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610016-D120-CB4F-9D2D-D572B86E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7BC76A-CB76-CE47-BDCA-3FA1885F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D515DB-B3DA-8944-B566-D98A2BAD9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D7D2-5FBA-B547-87FA-07D1EA599ADE}" type="datetimeFigureOut">
              <a:rPr kumimoji="1" lang="zh-CN" altLang="en-US" smtClean="0"/>
              <a:t>2025/3/16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28521-095C-1149-8BF2-B9D2FED5C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A33D1-0D68-7D4B-B03D-F1B605738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2E8B5-63BB-DD45-997A-7EF973729D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89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3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6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4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0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21A4ABCD-9A9C-0D47-AAA8-BF89E4137FF3}"/>
              </a:ext>
            </a:extLst>
          </p:cNvPr>
          <p:cNvSpPr/>
          <p:nvPr/>
        </p:nvSpPr>
        <p:spPr>
          <a:xfrm>
            <a:off x="120548" y="915899"/>
            <a:ext cx="2237591" cy="447876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D00721F-CCF7-9B4F-857D-668CC6872B1F}"/>
              </a:ext>
            </a:extLst>
          </p:cNvPr>
          <p:cNvSpPr/>
          <p:nvPr/>
        </p:nvSpPr>
        <p:spPr>
          <a:xfrm>
            <a:off x="486308" y="1662516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3820553-16E7-DE47-8DCA-66023FDCA003}"/>
              </a:ext>
            </a:extLst>
          </p:cNvPr>
          <p:cNvSpPr/>
          <p:nvPr/>
        </p:nvSpPr>
        <p:spPr>
          <a:xfrm>
            <a:off x="566990" y="240479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FD13D78-94EA-7443-B49A-022EA3514EBD}"/>
              </a:ext>
            </a:extLst>
          </p:cNvPr>
          <p:cNvSpPr/>
          <p:nvPr/>
        </p:nvSpPr>
        <p:spPr>
          <a:xfrm>
            <a:off x="1083356" y="2008554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E19A465-D307-F44E-A31F-696D346B4AC4}"/>
              </a:ext>
            </a:extLst>
          </p:cNvPr>
          <p:cNvSpPr/>
          <p:nvPr/>
        </p:nvSpPr>
        <p:spPr>
          <a:xfrm>
            <a:off x="1337955" y="2793862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369FFBC-26B4-1E44-878D-FC168B57C46C}"/>
              </a:ext>
            </a:extLst>
          </p:cNvPr>
          <p:cNvSpPr/>
          <p:nvPr/>
        </p:nvSpPr>
        <p:spPr>
          <a:xfrm>
            <a:off x="1339748" y="179340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66852D8-ABA2-4E40-93CD-C2CB02864DAB}"/>
              </a:ext>
            </a:extLst>
          </p:cNvPr>
          <p:cNvSpPr/>
          <p:nvPr/>
        </p:nvSpPr>
        <p:spPr>
          <a:xfrm>
            <a:off x="1002673" y="2444237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D06ECD0-6CD5-084D-A1F2-99667A183FBE}"/>
              </a:ext>
            </a:extLst>
          </p:cNvPr>
          <p:cNvSpPr/>
          <p:nvPr/>
        </p:nvSpPr>
        <p:spPr>
          <a:xfrm>
            <a:off x="1499320" y="2272115"/>
            <a:ext cx="161365" cy="17212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93E549FD-038D-6A45-8847-1AAA4B4360AB}"/>
              </a:ext>
            </a:extLst>
          </p:cNvPr>
          <p:cNvSpPr/>
          <p:nvPr/>
        </p:nvSpPr>
        <p:spPr>
          <a:xfrm>
            <a:off x="895099" y="3477869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6E5597AF-E1D5-1441-B095-667461657356}"/>
              </a:ext>
            </a:extLst>
          </p:cNvPr>
          <p:cNvSpPr/>
          <p:nvPr/>
        </p:nvSpPr>
        <p:spPr>
          <a:xfrm>
            <a:off x="1566556" y="3238511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218685BA-60DC-D644-BC39-B3C0CFC7CF2C}"/>
              </a:ext>
            </a:extLst>
          </p:cNvPr>
          <p:cNvSpPr/>
          <p:nvPr/>
        </p:nvSpPr>
        <p:spPr>
          <a:xfrm>
            <a:off x="634226" y="3147070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415EB80-7790-3E45-8E2A-87939F9471DD}"/>
              </a:ext>
            </a:extLst>
          </p:cNvPr>
          <p:cNvSpPr/>
          <p:nvPr/>
        </p:nvSpPr>
        <p:spPr>
          <a:xfrm>
            <a:off x="1556693" y="390907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C56DD79-E978-7A4F-B311-17B49FDB977E}"/>
              </a:ext>
            </a:extLst>
          </p:cNvPr>
          <p:cNvSpPr/>
          <p:nvPr/>
        </p:nvSpPr>
        <p:spPr>
          <a:xfrm>
            <a:off x="546368" y="408971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6F95282-D954-E140-B5E4-B3C5FE7B0715}"/>
              </a:ext>
            </a:extLst>
          </p:cNvPr>
          <p:cNvSpPr/>
          <p:nvPr/>
        </p:nvSpPr>
        <p:spPr>
          <a:xfrm>
            <a:off x="1718058" y="1384608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174AED41-E131-7845-982E-D0955EADB545}"/>
              </a:ext>
            </a:extLst>
          </p:cNvPr>
          <p:cNvSpPr/>
          <p:nvPr/>
        </p:nvSpPr>
        <p:spPr>
          <a:xfrm>
            <a:off x="1230380" y="4261832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05BE5FEF-E13D-DB49-B775-E5099D48505D}"/>
              </a:ext>
            </a:extLst>
          </p:cNvPr>
          <p:cNvSpPr/>
          <p:nvPr/>
        </p:nvSpPr>
        <p:spPr>
          <a:xfrm>
            <a:off x="895098" y="4837813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0D17810-52A7-8444-B367-F406180E9430}"/>
              </a:ext>
            </a:extLst>
          </p:cNvPr>
          <p:cNvSpPr/>
          <p:nvPr/>
        </p:nvSpPr>
        <p:spPr>
          <a:xfrm>
            <a:off x="1883906" y="356706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31BC826-02F0-314D-8241-61DAF4BB0389}"/>
              </a:ext>
            </a:extLst>
          </p:cNvPr>
          <p:cNvSpPr/>
          <p:nvPr/>
        </p:nvSpPr>
        <p:spPr>
          <a:xfrm>
            <a:off x="324943" y="365313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390E378-CB90-2649-A058-21C089D2A8FB}"/>
              </a:ext>
            </a:extLst>
          </p:cNvPr>
          <p:cNvSpPr/>
          <p:nvPr/>
        </p:nvSpPr>
        <p:spPr>
          <a:xfrm>
            <a:off x="1674130" y="474413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EB28A58-C336-414C-95A6-DE720977FB5A}"/>
                  </a:ext>
                </a:extLst>
              </p:cNvPr>
              <p:cNvSpPr txBox="1"/>
              <p:nvPr/>
            </p:nvSpPr>
            <p:spPr>
              <a:xfrm>
                <a:off x="1718058" y="1491602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EB28A58-C336-414C-95A6-DE720977F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058" y="1491602"/>
                <a:ext cx="357693" cy="2154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E83FFFF-6840-C94F-B158-F38DC91AEA93}"/>
                  </a:ext>
                </a:extLst>
              </p:cNvPr>
              <p:cNvSpPr txBox="1"/>
              <p:nvPr/>
            </p:nvSpPr>
            <p:spPr>
              <a:xfrm>
                <a:off x="468825" y="1800056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E83FFFF-6840-C94F-B158-F38DC91AE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5" y="1800056"/>
                <a:ext cx="357693" cy="215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F0E2115-90FD-F244-9AFB-1542AD7AE506}"/>
                  </a:ext>
                </a:extLst>
              </p:cNvPr>
              <p:cNvSpPr txBox="1"/>
              <p:nvPr/>
            </p:nvSpPr>
            <p:spPr>
              <a:xfrm>
                <a:off x="1366465" y="1898683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F0E2115-90FD-F244-9AFB-1542AD7AE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465" y="1898683"/>
                <a:ext cx="357693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B5C3667-6893-0644-9AD9-5C7F89912D45}"/>
                  </a:ext>
                </a:extLst>
              </p:cNvPr>
              <p:cNvSpPr txBox="1"/>
              <p:nvPr/>
            </p:nvSpPr>
            <p:spPr>
              <a:xfrm>
                <a:off x="1083355" y="2114127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B5C3667-6893-0644-9AD9-5C7F8991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55" y="2114127"/>
                <a:ext cx="357693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652C70C-B0AD-3A43-B8BB-F90B1C990468}"/>
                  </a:ext>
                </a:extLst>
              </p:cNvPr>
              <p:cNvSpPr txBox="1"/>
              <p:nvPr/>
            </p:nvSpPr>
            <p:spPr>
              <a:xfrm>
                <a:off x="1521730" y="2393598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652C70C-B0AD-3A43-B8BB-F90B1C990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730" y="2393598"/>
                <a:ext cx="357693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E3085C6-EEAF-C547-991F-ADE07B04396E}"/>
                  </a:ext>
                </a:extLst>
              </p:cNvPr>
              <p:cNvSpPr txBox="1"/>
              <p:nvPr/>
            </p:nvSpPr>
            <p:spPr>
              <a:xfrm>
                <a:off x="566990" y="2530298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E3085C6-EEAF-C547-991F-ADE07B04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90" y="2530298"/>
                <a:ext cx="357693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04A1099-1C5E-2C48-A270-9EFD3AD892B6}"/>
                  </a:ext>
                </a:extLst>
              </p:cNvPr>
              <p:cNvSpPr txBox="1"/>
              <p:nvPr/>
            </p:nvSpPr>
            <p:spPr>
              <a:xfrm>
                <a:off x="995950" y="2573953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04A1099-1C5E-2C48-A270-9EFD3AD89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950" y="2573953"/>
                <a:ext cx="357693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8148B30-96AC-AD41-BD85-1655839846B8}"/>
                  </a:ext>
                </a:extLst>
              </p:cNvPr>
              <p:cNvSpPr txBox="1"/>
              <p:nvPr/>
            </p:nvSpPr>
            <p:spPr>
              <a:xfrm>
                <a:off x="1353643" y="2898212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8148B30-96AC-AD41-BD85-16558398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643" y="2898212"/>
                <a:ext cx="357693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2971FBB-B780-464F-8DEA-B8F5A67EFBCB}"/>
                  </a:ext>
                </a:extLst>
              </p:cNvPr>
              <p:cNvSpPr txBox="1"/>
              <p:nvPr/>
            </p:nvSpPr>
            <p:spPr>
              <a:xfrm>
                <a:off x="589869" y="3276321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2971FBB-B780-464F-8DEA-B8F5A67EF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69" y="3276321"/>
                <a:ext cx="357693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C950E08-C65E-C946-82E2-D4F9D0BEAC9F}"/>
                  </a:ext>
                </a:extLst>
              </p:cNvPr>
              <p:cNvSpPr txBox="1"/>
              <p:nvPr/>
            </p:nvSpPr>
            <p:spPr>
              <a:xfrm>
                <a:off x="1492764" y="3370147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C950E08-C65E-C946-82E2-D4F9D0BE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764" y="3370147"/>
                <a:ext cx="357693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686523C-78BC-BA4E-8E10-7D8CE4A872BB}"/>
                  </a:ext>
                </a:extLst>
              </p:cNvPr>
              <p:cNvSpPr txBox="1"/>
              <p:nvPr/>
            </p:nvSpPr>
            <p:spPr>
              <a:xfrm>
                <a:off x="823826" y="3609808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686523C-78BC-BA4E-8E10-7D8CE4A87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26" y="3609808"/>
                <a:ext cx="357693" cy="2154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A35D00-3453-384F-9CA0-0CA771A86834}"/>
                  </a:ext>
                </a:extLst>
              </p:cNvPr>
              <p:cNvSpPr txBox="1"/>
              <p:nvPr/>
            </p:nvSpPr>
            <p:spPr>
              <a:xfrm>
                <a:off x="1866424" y="3693626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A35D00-3453-384F-9CA0-0CA771A86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424" y="3693626"/>
                <a:ext cx="357693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92E7074-080D-DF4D-A01E-0C7539D7CD94}"/>
                  </a:ext>
                </a:extLst>
              </p:cNvPr>
              <p:cNvSpPr txBox="1"/>
              <p:nvPr/>
            </p:nvSpPr>
            <p:spPr>
              <a:xfrm>
                <a:off x="1556693" y="4020260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92E7074-080D-DF4D-A01E-0C7539D7C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693" y="4020260"/>
                <a:ext cx="357693" cy="2154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5C24ED-4397-D343-BF1F-BCFE6217764C}"/>
                  </a:ext>
                </a:extLst>
              </p:cNvPr>
              <p:cNvSpPr txBox="1"/>
              <p:nvPr/>
            </p:nvSpPr>
            <p:spPr>
              <a:xfrm>
                <a:off x="549507" y="4199460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5C24ED-4397-D343-BF1F-BCFE62177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7" y="4199460"/>
                <a:ext cx="357693" cy="2154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67F87B2-A39E-7644-9EC6-79AC48C26B00}"/>
                  </a:ext>
                </a:extLst>
              </p:cNvPr>
              <p:cNvSpPr txBox="1"/>
              <p:nvPr/>
            </p:nvSpPr>
            <p:spPr>
              <a:xfrm>
                <a:off x="330096" y="3764817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67F87B2-A39E-7644-9EC6-79AC48C26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96" y="3764817"/>
                <a:ext cx="357693" cy="2154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809002C-19D0-1946-A371-EA8F98B121B5}"/>
                  </a:ext>
                </a:extLst>
              </p:cNvPr>
              <p:cNvSpPr txBox="1"/>
              <p:nvPr/>
            </p:nvSpPr>
            <p:spPr>
              <a:xfrm>
                <a:off x="1181519" y="4387061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809002C-19D0-1946-A371-EA8F98B12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519" y="4387061"/>
                <a:ext cx="357693" cy="2154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66B62FF-A696-5644-918C-F7AF215F5A29}"/>
                  </a:ext>
                </a:extLst>
              </p:cNvPr>
              <p:cNvSpPr txBox="1"/>
              <p:nvPr/>
            </p:nvSpPr>
            <p:spPr>
              <a:xfrm>
                <a:off x="1679058" y="4865957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66B62FF-A696-5644-918C-F7AF215F5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058" y="4865957"/>
                <a:ext cx="357693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562CCC8-8338-654F-87BB-BB234AC6A0FF}"/>
                  </a:ext>
                </a:extLst>
              </p:cNvPr>
              <p:cNvSpPr txBox="1"/>
              <p:nvPr/>
            </p:nvSpPr>
            <p:spPr>
              <a:xfrm>
                <a:off x="806345" y="4973357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562CCC8-8338-654F-87BB-BB234AC6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45" y="4973357"/>
                <a:ext cx="357693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518446-2E60-B049-AFCA-BCF29279B8BF}"/>
                  </a:ext>
                </a:extLst>
              </p:cNvPr>
              <p:cNvSpPr txBox="1"/>
              <p:nvPr/>
            </p:nvSpPr>
            <p:spPr>
              <a:xfrm>
                <a:off x="720511" y="944097"/>
                <a:ext cx="1207994" cy="293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518446-2E60-B049-AFCA-BCF29279B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11" y="944097"/>
                <a:ext cx="1207994" cy="293991"/>
              </a:xfrm>
              <a:prstGeom prst="rect">
                <a:avLst/>
              </a:prstGeom>
              <a:blipFill>
                <a:blip r:embed="rId2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图片 44">
            <a:extLst>
              <a:ext uri="{FF2B5EF4-FFF2-40B4-BE49-F238E27FC236}">
                <a16:creationId xmlns:a16="http://schemas.microsoft.com/office/drawing/2014/main" id="{A01F6240-64CD-4A45-A813-D9538A3DABE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3036" y="2499505"/>
            <a:ext cx="562964" cy="562964"/>
          </a:xfrm>
          <a:prstGeom prst="rect">
            <a:avLst/>
          </a:prstGeom>
        </p:spPr>
      </p:pic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A4794D5A-73B6-7848-B507-AFB1F560AE1C}"/>
              </a:ext>
            </a:extLst>
          </p:cNvPr>
          <p:cNvCxnSpPr>
            <a:cxnSpLocks/>
          </p:cNvCxnSpPr>
          <p:nvPr/>
        </p:nvCxnSpPr>
        <p:spPr>
          <a:xfrm flipV="1">
            <a:off x="2485731" y="3255930"/>
            <a:ext cx="1043554" cy="56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F7D1F3F1-1FFF-2E48-989F-EEA1AB2F0B7D}"/>
              </a:ext>
            </a:extLst>
          </p:cNvPr>
          <p:cNvSpPr/>
          <p:nvPr/>
        </p:nvSpPr>
        <p:spPr>
          <a:xfrm>
            <a:off x="2535325" y="2353836"/>
            <a:ext cx="900517" cy="812756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95F0E82-9CC8-6646-BF68-C759AD46D2FE}"/>
              </a:ext>
            </a:extLst>
          </p:cNvPr>
          <p:cNvSpPr txBox="1"/>
          <p:nvPr/>
        </p:nvSpPr>
        <p:spPr>
          <a:xfrm>
            <a:off x="2360845" y="3282305"/>
            <a:ext cx="140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Train few epochs</a:t>
            </a:r>
            <a:endParaRPr kumimoji="1" lang="zh-CN" altLang="en-US" sz="1000" b="1" i="1" dirty="0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A18CEC35-B3D5-D242-94CC-AB24B5C3B95B}"/>
              </a:ext>
            </a:extLst>
          </p:cNvPr>
          <p:cNvSpPr/>
          <p:nvPr/>
        </p:nvSpPr>
        <p:spPr>
          <a:xfrm>
            <a:off x="3658742" y="295039"/>
            <a:ext cx="1263692" cy="30419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924516BB-C733-C344-AFE7-0B227149EBF4}"/>
              </a:ext>
            </a:extLst>
          </p:cNvPr>
          <p:cNvSpPr/>
          <p:nvPr/>
        </p:nvSpPr>
        <p:spPr>
          <a:xfrm>
            <a:off x="3673009" y="3697618"/>
            <a:ext cx="1246627" cy="1703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490716D-6ABE-F14A-AF9C-E1930FD50B3F}"/>
              </a:ext>
            </a:extLst>
          </p:cNvPr>
          <p:cNvSpPr/>
          <p:nvPr/>
        </p:nvSpPr>
        <p:spPr>
          <a:xfrm>
            <a:off x="4169466" y="71366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60537562-5BF5-9244-9F32-56ACB2D8587E}"/>
              </a:ext>
            </a:extLst>
          </p:cNvPr>
          <p:cNvSpPr/>
          <p:nvPr/>
        </p:nvSpPr>
        <p:spPr>
          <a:xfrm>
            <a:off x="4169467" y="102684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E8EFDC8E-FF57-C848-96C1-23A37DBD732E}"/>
              </a:ext>
            </a:extLst>
          </p:cNvPr>
          <p:cNvSpPr/>
          <p:nvPr/>
        </p:nvSpPr>
        <p:spPr>
          <a:xfrm>
            <a:off x="4169466" y="136987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56F631BE-1896-4144-B368-15E6CEC3CD42}"/>
              </a:ext>
            </a:extLst>
          </p:cNvPr>
          <p:cNvSpPr/>
          <p:nvPr/>
        </p:nvSpPr>
        <p:spPr>
          <a:xfrm>
            <a:off x="4169466" y="172286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7E439766-4DF8-A84A-AA39-9755B71FEB79}"/>
              </a:ext>
            </a:extLst>
          </p:cNvPr>
          <p:cNvSpPr/>
          <p:nvPr/>
        </p:nvSpPr>
        <p:spPr>
          <a:xfrm>
            <a:off x="4169466" y="206553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074B4EA8-4262-B547-9EB3-048BAFF9FE4F}"/>
              </a:ext>
            </a:extLst>
          </p:cNvPr>
          <p:cNvSpPr/>
          <p:nvPr/>
        </p:nvSpPr>
        <p:spPr>
          <a:xfrm>
            <a:off x="4169466" y="273874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72DAD51-059F-4D4D-9A8A-D8CD00DD7DEB}"/>
                  </a:ext>
                </a:extLst>
              </p:cNvPr>
              <p:cNvSpPr txBox="1"/>
              <p:nvPr/>
            </p:nvSpPr>
            <p:spPr>
              <a:xfrm>
                <a:off x="3788092" y="692002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72DAD51-059F-4D4D-9A8A-D8CD00DD7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092" y="692002"/>
                <a:ext cx="246491" cy="2154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9919053-02D3-BF43-92BC-39942223DAD8}"/>
                  </a:ext>
                </a:extLst>
              </p:cNvPr>
              <p:cNvSpPr txBox="1"/>
              <p:nvPr/>
            </p:nvSpPr>
            <p:spPr>
              <a:xfrm>
                <a:off x="3782377" y="1009050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9919053-02D3-BF43-92BC-39942223D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1009050"/>
                <a:ext cx="246491" cy="2154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076B2B-C773-6940-A4EC-271595C8CFB1}"/>
                  </a:ext>
                </a:extLst>
              </p:cNvPr>
              <p:cNvSpPr txBox="1"/>
              <p:nvPr/>
            </p:nvSpPr>
            <p:spPr>
              <a:xfrm>
                <a:off x="3782377" y="1383843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076B2B-C773-6940-A4EC-271595C8C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1383843"/>
                <a:ext cx="246491" cy="2154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5B9E86C-0549-1147-A1FA-65A4F5F312BD}"/>
                  </a:ext>
                </a:extLst>
              </p:cNvPr>
              <p:cNvSpPr txBox="1"/>
              <p:nvPr/>
            </p:nvSpPr>
            <p:spPr>
              <a:xfrm>
                <a:off x="3782377" y="1735197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5B9E86C-0549-1147-A1FA-65A4F5F31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1735197"/>
                <a:ext cx="246491" cy="21544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C38236E-6F67-9440-ABFA-5F9C23C97379}"/>
                  </a:ext>
                </a:extLst>
              </p:cNvPr>
              <p:cNvSpPr txBox="1"/>
              <p:nvPr/>
            </p:nvSpPr>
            <p:spPr>
              <a:xfrm>
                <a:off x="3782377" y="2075684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C38236E-6F67-9440-ABFA-5F9C23C9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2075684"/>
                <a:ext cx="246491" cy="21544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BCD0403-285B-4847-821F-46C590607159}"/>
                  </a:ext>
                </a:extLst>
              </p:cNvPr>
              <p:cNvSpPr txBox="1"/>
              <p:nvPr/>
            </p:nvSpPr>
            <p:spPr>
              <a:xfrm>
                <a:off x="3782377" y="2389038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BCD0403-285B-4847-821F-46C590607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2389038"/>
                <a:ext cx="246491" cy="215444"/>
              </a:xfrm>
              <a:prstGeom prst="rect">
                <a:avLst/>
              </a:prstGeom>
              <a:blipFill>
                <a:blip r:embed="rId27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836B39FA-3B85-E747-9EAC-F6E6E3200616}"/>
                  </a:ext>
                </a:extLst>
              </p:cNvPr>
              <p:cNvSpPr txBox="1"/>
              <p:nvPr/>
            </p:nvSpPr>
            <p:spPr>
              <a:xfrm>
                <a:off x="3782377" y="2717088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836B39FA-3B85-E747-9EAC-F6E6E3200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2717088"/>
                <a:ext cx="246491" cy="21544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三角形 67">
            <a:extLst>
              <a:ext uri="{FF2B5EF4-FFF2-40B4-BE49-F238E27FC236}">
                <a16:creationId xmlns:a16="http://schemas.microsoft.com/office/drawing/2014/main" id="{F85CAA4E-1FDF-6B44-ADEE-2CFA3BE38F61}"/>
              </a:ext>
            </a:extLst>
          </p:cNvPr>
          <p:cNvSpPr/>
          <p:nvPr/>
        </p:nvSpPr>
        <p:spPr>
          <a:xfrm>
            <a:off x="4156019" y="2407110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8192C0B-2205-3842-9607-61CF6B7503F9}"/>
              </a:ext>
            </a:extLst>
          </p:cNvPr>
          <p:cNvSpPr txBox="1"/>
          <p:nvPr/>
        </p:nvSpPr>
        <p:spPr>
          <a:xfrm>
            <a:off x="4064366" y="2978931"/>
            <a:ext cx="359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. . .</a:t>
            </a:r>
            <a:endParaRPr kumimoji="1" lang="zh-CN" alt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0E4F258E-2EE3-8345-A413-B3AA01DF7110}"/>
                  </a:ext>
                </a:extLst>
              </p:cNvPr>
              <p:cNvSpPr txBox="1"/>
              <p:nvPr/>
            </p:nvSpPr>
            <p:spPr>
              <a:xfrm>
                <a:off x="3701014" y="323986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Clean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0E4F258E-2EE3-8345-A413-B3AA01DF7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14" y="323986"/>
                <a:ext cx="1207994" cy="276999"/>
              </a:xfrm>
              <a:prstGeom prst="rect">
                <a:avLst/>
              </a:prstGeom>
              <a:blipFill>
                <a:blip r:embed="rId2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B5058EC-1EB4-594F-A0E7-BA38FD9144D2}"/>
                  </a:ext>
                </a:extLst>
              </p:cNvPr>
              <p:cNvSpPr txBox="1"/>
              <p:nvPr/>
            </p:nvSpPr>
            <p:spPr>
              <a:xfrm>
                <a:off x="3774295" y="3718559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Dirty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B5058EC-1EB4-594F-A0E7-BA38FD914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295" y="3718559"/>
                <a:ext cx="1207994" cy="276999"/>
              </a:xfrm>
              <a:prstGeom prst="rect">
                <a:avLst/>
              </a:prstGeom>
              <a:blipFill>
                <a:blip r:embed="rId3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本框 71">
            <a:extLst>
              <a:ext uri="{FF2B5EF4-FFF2-40B4-BE49-F238E27FC236}">
                <a16:creationId xmlns:a16="http://schemas.microsoft.com/office/drawing/2014/main" id="{AB680122-2A26-1D46-983E-1441C8AEBF82}"/>
              </a:ext>
            </a:extLst>
          </p:cNvPr>
          <p:cNvSpPr txBox="1"/>
          <p:nvPr/>
        </p:nvSpPr>
        <p:spPr>
          <a:xfrm>
            <a:off x="1774484" y="5603236"/>
            <a:ext cx="2603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I: Loss-based Identification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8ABA50A-88DC-464E-ABA8-4D7F548C1E4E}"/>
              </a:ext>
            </a:extLst>
          </p:cNvPr>
          <p:cNvSpPr txBox="1"/>
          <p:nvPr/>
        </p:nvSpPr>
        <p:spPr>
          <a:xfrm>
            <a:off x="4396602" y="703577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0.84</a:t>
            </a:r>
            <a:endParaRPr kumimoji="1" lang="zh-CN" altLang="en-US" sz="800" b="1" i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C2AEB39-B9E6-9846-AA15-ED1392BA3E22}"/>
              </a:ext>
            </a:extLst>
          </p:cNvPr>
          <p:cNvSpPr txBox="1"/>
          <p:nvPr/>
        </p:nvSpPr>
        <p:spPr>
          <a:xfrm>
            <a:off x="4393406" y="1018015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1.21</a:t>
            </a:r>
            <a:endParaRPr kumimoji="1" lang="zh-CN" altLang="en-US" sz="800" b="1" i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27406B7-37E9-F849-B864-341D1D3D2D70}"/>
              </a:ext>
            </a:extLst>
          </p:cNvPr>
          <p:cNvSpPr txBox="1"/>
          <p:nvPr/>
        </p:nvSpPr>
        <p:spPr>
          <a:xfrm>
            <a:off x="4393406" y="1357736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0.97</a:t>
            </a:r>
            <a:endParaRPr kumimoji="1" lang="zh-CN" altLang="en-US" sz="800" b="1" i="1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7EB7513-B788-D34D-A62B-4BBE54D30FA1}"/>
              </a:ext>
            </a:extLst>
          </p:cNvPr>
          <p:cNvSpPr txBox="1"/>
          <p:nvPr/>
        </p:nvSpPr>
        <p:spPr>
          <a:xfrm>
            <a:off x="4393406" y="1710798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1.02</a:t>
            </a:r>
            <a:endParaRPr kumimoji="1" lang="zh-CN" altLang="en-US" sz="800" b="1" i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574C30E-0859-5342-A005-866E9E36680D}"/>
              </a:ext>
            </a:extLst>
          </p:cNvPr>
          <p:cNvSpPr txBox="1"/>
          <p:nvPr/>
        </p:nvSpPr>
        <p:spPr>
          <a:xfrm>
            <a:off x="4393406" y="2047996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0.67</a:t>
            </a:r>
            <a:endParaRPr kumimoji="1" lang="zh-CN" altLang="en-US" sz="800" b="1" i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D7C0C1A-25E8-4244-AD3A-DBC24567085D}"/>
              </a:ext>
            </a:extLst>
          </p:cNvPr>
          <p:cNvSpPr txBox="1"/>
          <p:nvPr/>
        </p:nvSpPr>
        <p:spPr>
          <a:xfrm>
            <a:off x="4380184" y="2401770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1.66</a:t>
            </a:r>
            <a:endParaRPr kumimoji="1" lang="zh-CN" altLang="en-US" sz="800" b="1" i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8804AC2-A829-FB45-BA41-87F72749CA48}"/>
              </a:ext>
            </a:extLst>
          </p:cNvPr>
          <p:cNvSpPr txBox="1"/>
          <p:nvPr/>
        </p:nvSpPr>
        <p:spPr>
          <a:xfrm>
            <a:off x="4378292" y="2733740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1.53</a:t>
            </a:r>
            <a:endParaRPr kumimoji="1" lang="zh-CN" altLang="en-US" sz="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70FFF8E-1E08-CA4D-96D5-09338975451A}"/>
                  </a:ext>
                </a:extLst>
              </p:cNvPr>
              <p:cNvSpPr txBox="1"/>
              <p:nvPr/>
            </p:nvSpPr>
            <p:spPr>
              <a:xfrm>
                <a:off x="3795302" y="4034571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70FFF8E-1E08-CA4D-96D5-093389754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302" y="4034571"/>
                <a:ext cx="246491" cy="215444"/>
              </a:xfrm>
              <a:prstGeom prst="rect">
                <a:avLst/>
              </a:prstGeom>
              <a:blipFill>
                <a:blip r:embed="rId31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三角形 80">
            <a:extLst>
              <a:ext uri="{FF2B5EF4-FFF2-40B4-BE49-F238E27FC236}">
                <a16:creationId xmlns:a16="http://schemas.microsoft.com/office/drawing/2014/main" id="{49080849-5D4F-F145-ACBC-7BDF5A1F0B07}"/>
              </a:ext>
            </a:extLst>
          </p:cNvPr>
          <p:cNvSpPr/>
          <p:nvPr/>
        </p:nvSpPr>
        <p:spPr>
          <a:xfrm>
            <a:off x="4169486" y="4034571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B344878-3F1E-D94A-8C15-A86FA85D94EE}"/>
              </a:ext>
            </a:extLst>
          </p:cNvPr>
          <p:cNvSpPr txBox="1"/>
          <p:nvPr/>
        </p:nvSpPr>
        <p:spPr>
          <a:xfrm>
            <a:off x="4378292" y="4029111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1.96</a:t>
            </a:r>
            <a:endParaRPr kumimoji="1" lang="zh-CN" altLang="en-US" sz="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13EDE5C-0F63-394D-9ACD-581A2CC30A0B}"/>
                  </a:ext>
                </a:extLst>
              </p:cNvPr>
              <p:cNvSpPr txBox="1"/>
              <p:nvPr/>
            </p:nvSpPr>
            <p:spPr>
              <a:xfrm>
                <a:off x="3792254" y="4305843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13EDE5C-0F63-394D-9ACD-581A2CC30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254" y="4305843"/>
                <a:ext cx="246491" cy="215444"/>
              </a:xfrm>
              <a:prstGeom prst="rect">
                <a:avLst/>
              </a:prstGeom>
              <a:blipFill>
                <a:blip r:embed="rId32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三角形 83">
            <a:extLst>
              <a:ext uri="{FF2B5EF4-FFF2-40B4-BE49-F238E27FC236}">
                <a16:creationId xmlns:a16="http://schemas.microsoft.com/office/drawing/2014/main" id="{82A80E61-2285-9E47-9BE9-4249E64BD9D4}"/>
              </a:ext>
            </a:extLst>
          </p:cNvPr>
          <p:cNvSpPr/>
          <p:nvPr/>
        </p:nvSpPr>
        <p:spPr>
          <a:xfrm>
            <a:off x="4167902" y="4314402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B5B81CA-C33D-CA4A-AB1F-E8DE185EF23B}"/>
              </a:ext>
            </a:extLst>
          </p:cNvPr>
          <p:cNvSpPr txBox="1"/>
          <p:nvPr/>
        </p:nvSpPr>
        <p:spPr>
          <a:xfrm>
            <a:off x="4390061" y="4318575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2.05</a:t>
            </a:r>
            <a:endParaRPr kumimoji="1" lang="zh-CN" altLang="en-US" sz="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0739553-B345-FD44-B0C1-8CDFCAA02B16}"/>
                  </a:ext>
                </a:extLst>
              </p:cNvPr>
              <p:cNvSpPr txBox="1"/>
              <p:nvPr/>
            </p:nvSpPr>
            <p:spPr>
              <a:xfrm>
                <a:off x="3801398" y="4571019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0739553-B345-FD44-B0C1-8CDFCAA0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98" y="4571019"/>
                <a:ext cx="246491" cy="215444"/>
              </a:xfrm>
              <a:prstGeom prst="rect">
                <a:avLst/>
              </a:prstGeom>
              <a:blipFill>
                <a:blip r:embed="rId33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三角形 86">
            <a:extLst>
              <a:ext uri="{FF2B5EF4-FFF2-40B4-BE49-F238E27FC236}">
                <a16:creationId xmlns:a16="http://schemas.microsoft.com/office/drawing/2014/main" id="{11ABC49C-3717-4E4C-A8D2-01F1A2021D68}"/>
              </a:ext>
            </a:extLst>
          </p:cNvPr>
          <p:cNvSpPr/>
          <p:nvPr/>
        </p:nvSpPr>
        <p:spPr>
          <a:xfrm>
            <a:off x="4169486" y="4858355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E130980-400D-A54B-9A2B-C245E73508FB}"/>
              </a:ext>
            </a:extLst>
          </p:cNvPr>
          <p:cNvSpPr txBox="1"/>
          <p:nvPr/>
        </p:nvSpPr>
        <p:spPr>
          <a:xfrm>
            <a:off x="4378292" y="4599370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1.99</a:t>
            </a:r>
            <a:endParaRPr kumimoji="1" lang="zh-CN" altLang="en-US" sz="8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EC20FBF-5871-4946-AB3E-3276173EF74F}"/>
                  </a:ext>
                </a:extLst>
              </p:cNvPr>
              <p:cNvSpPr txBox="1"/>
              <p:nvPr/>
            </p:nvSpPr>
            <p:spPr>
              <a:xfrm>
                <a:off x="3805053" y="4858464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EC20FBF-5871-4946-AB3E-3276173EF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53" y="4858464"/>
                <a:ext cx="246491" cy="215444"/>
              </a:xfrm>
              <a:prstGeom prst="rect">
                <a:avLst/>
              </a:prstGeom>
              <a:blipFill>
                <a:blip r:embed="rId34"/>
                <a:stretch>
                  <a:fillRect r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三角形 89">
            <a:extLst>
              <a:ext uri="{FF2B5EF4-FFF2-40B4-BE49-F238E27FC236}">
                <a16:creationId xmlns:a16="http://schemas.microsoft.com/office/drawing/2014/main" id="{72F3DD64-A0F6-D848-972E-A0DE9A83D358}"/>
              </a:ext>
            </a:extLst>
          </p:cNvPr>
          <p:cNvSpPr/>
          <p:nvPr/>
        </p:nvSpPr>
        <p:spPr>
          <a:xfrm>
            <a:off x="4167902" y="5168551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E11ACDB-D483-534D-A60D-BD84B39CF37E}"/>
              </a:ext>
            </a:extLst>
          </p:cNvPr>
          <p:cNvSpPr txBox="1"/>
          <p:nvPr/>
        </p:nvSpPr>
        <p:spPr>
          <a:xfrm>
            <a:off x="4387788" y="4884842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3.12</a:t>
            </a:r>
            <a:endParaRPr kumimoji="1" lang="zh-CN" altLang="en-US" sz="800" b="1" i="1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B36BE49-21AB-3947-80C8-98DE7A2E4AC2}"/>
              </a:ext>
            </a:extLst>
          </p:cNvPr>
          <p:cNvSpPr/>
          <p:nvPr/>
        </p:nvSpPr>
        <p:spPr>
          <a:xfrm>
            <a:off x="4182911" y="4586512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7B38069-E23C-534E-9055-68610F6A29F8}"/>
                  </a:ext>
                </a:extLst>
              </p:cNvPr>
              <p:cNvSpPr txBox="1"/>
              <p:nvPr/>
            </p:nvSpPr>
            <p:spPr>
              <a:xfrm>
                <a:off x="3828508" y="5146480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7B38069-E23C-534E-9055-68610F6A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508" y="5146480"/>
                <a:ext cx="246491" cy="215444"/>
              </a:xfrm>
              <a:prstGeom prst="rect">
                <a:avLst/>
              </a:prstGeom>
              <a:blipFill>
                <a:blip r:embed="rId35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FEF6A199-B0C3-024A-9063-C3C83F9C186B}"/>
              </a:ext>
            </a:extLst>
          </p:cNvPr>
          <p:cNvSpPr txBox="1"/>
          <p:nvPr/>
        </p:nvSpPr>
        <p:spPr>
          <a:xfrm>
            <a:off x="4398421" y="5159783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2.87</a:t>
            </a:r>
            <a:endParaRPr kumimoji="1" lang="zh-CN" altLang="en-US" sz="800" b="1" i="1" dirty="0"/>
          </a:p>
        </p:txBody>
      </p:sp>
      <p:sp>
        <p:nvSpPr>
          <p:cNvPr id="95" name="三角形 94">
            <a:extLst>
              <a:ext uri="{FF2B5EF4-FFF2-40B4-BE49-F238E27FC236}">
                <a16:creationId xmlns:a16="http://schemas.microsoft.com/office/drawing/2014/main" id="{AA23CE98-17AC-0C4E-8EA7-67C61A5A1E21}"/>
              </a:ext>
            </a:extLst>
          </p:cNvPr>
          <p:cNvSpPr/>
          <p:nvPr/>
        </p:nvSpPr>
        <p:spPr>
          <a:xfrm>
            <a:off x="1833087" y="4306567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三角形 95">
            <a:extLst>
              <a:ext uri="{FF2B5EF4-FFF2-40B4-BE49-F238E27FC236}">
                <a16:creationId xmlns:a16="http://schemas.microsoft.com/office/drawing/2014/main" id="{72211F0C-69C7-9948-965A-31D3A99BC108}"/>
              </a:ext>
            </a:extLst>
          </p:cNvPr>
          <p:cNvSpPr/>
          <p:nvPr/>
        </p:nvSpPr>
        <p:spPr>
          <a:xfrm>
            <a:off x="1889619" y="2707370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EF97535-19CF-9945-830B-5706D69B2C82}"/>
                  </a:ext>
                </a:extLst>
              </p:cNvPr>
              <p:cNvSpPr txBox="1"/>
              <p:nvPr/>
            </p:nvSpPr>
            <p:spPr>
              <a:xfrm>
                <a:off x="1797680" y="4433762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EF97535-19CF-9945-830B-5706D69B2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80" y="4433762"/>
                <a:ext cx="357693" cy="21544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F5A0C50-6751-FE42-ACE3-A84115C7A536}"/>
                  </a:ext>
                </a:extLst>
              </p:cNvPr>
              <p:cNvSpPr txBox="1"/>
              <p:nvPr/>
            </p:nvSpPr>
            <p:spPr>
              <a:xfrm>
                <a:off x="1879423" y="2854038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F5A0C50-6751-FE42-ACE3-A84115C7A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23" y="2854038"/>
                <a:ext cx="357693" cy="2154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05C6372-D9B1-5844-9542-D0409919467E}"/>
              </a:ext>
            </a:extLst>
          </p:cNvPr>
          <p:cNvCxnSpPr>
            <a:cxnSpLocks/>
          </p:cNvCxnSpPr>
          <p:nvPr/>
        </p:nvCxnSpPr>
        <p:spPr>
          <a:xfrm>
            <a:off x="5019804" y="2004214"/>
            <a:ext cx="13278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5" name="图片 104">
            <a:extLst>
              <a:ext uri="{FF2B5EF4-FFF2-40B4-BE49-F238E27FC236}">
                <a16:creationId xmlns:a16="http://schemas.microsoft.com/office/drawing/2014/main" id="{62C786C2-01A5-9644-8891-700C7E9CFB7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3448" y="1237776"/>
            <a:ext cx="562964" cy="562964"/>
          </a:xfrm>
          <a:prstGeom prst="rect">
            <a:avLst/>
          </a:prstGeom>
        </p:spPr>
      </p:pic>
      <p:sp>
        <p:nvSpPr>
          <p:cNvPr id="106" name="六边形 105">
            <a:extLst>
              <a:ext uri="{FF2B5EF4-FFF2-40B4-BE49-F238E27FC236}">
                <a16:creationId xmlns:a16="http://schemas.microsoft.com/office/drawing/2014/main" id="{38D82BB7-8787-3849-B46A-9FD164B2AA65}"/>
              </a:ext>
            </a:extLst>
          </p:cNvPr>
          <p:cNvSpPr/>
          <p:nvPr/>
        </p:nvSpPr>
        <p:spPr>
          <a:xfrm>
            <a:off x="5175737" y="1092107"/>
            <a:ext cx="900517" cy="812756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72AB2AE-351E-CF46-A764-BCFF9E72F3CD}"/>
              </a:ext>
            </a:extLst>
          </p:cNvPr>
          <p:cNvSpPr txBox="1"/>
          <p:nvPr/>
        </p:nvSpPr>
        <p:spPr>
          <a:xfrm>
            <a:off x="4933239" y="2020858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Train on clean pool</a:t>
            </a:r>
            <a:endParaRPr kumimoji="1" lang="zh-CN" altLang="en-US" sz="1000" b="1" i="1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BD5F045-42AD-0B4A-948A-75FA1B780DE6}"/>
              </a:ext>
            </a:extLst>
          </p:cNvPr>
          <p:cNvSpPr txBox="1"/>
          <p:nvPr/>
        </p:nvSpPr>
        <p:spPr>
          <a:xfrm>
            <a:off x="6029360" y="2996944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No</a:t>
            </a:r>
            <a:endParaRPr kumimoji="1" lang="zh-CN" altLang="en-US" sz="1000" b="1" i="1" dirty="0"/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D9334C08-63C1-4742-BC36-F0ED0AE5DE91}"/>
              </a:ext>
            </a:extLst>
          </p:cNvPr>
          <p:cNvCxnSpPr>
            <a:cxnSpLocks/>
          </p:cNvCxnSpPr>
          <p:nvPr/>
        </p:nvCxnSpPr>
        <p:spPr>
          <a:xfrm>
            <a:off x="7412125" y="2012849"/>
            <a:ext cx="6579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F221455-847C-EC42-B050-12071D4C65CE}"/>
              </a:ext>
            </a:extLst>
          </p:cNvPr>
          <p:cNvSpPr txBox="1"/>
          <p:nvPr/>
        </p:nvSpPr>
        <p:spPr>
          <a:xfrm>
            <a:off x="7497486" y="2047578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Yes</a:t>
            </a:r>
            <a:endParaRPr kumimoji="1" lang="zh-CN" altLang="en-US" sz="1000" b="1" i="1" dirty="0"/>
          </a:p>
        </p:txBody>
      </p: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9078FE6D-0A10-4A48-BD1C-E368AF18A34A}"/>
              </a:ext>
            </a:extLst>
          </p:cNvPr>
          <p:cNvCxnSpPr>
            <a:cxnSpLocks/>
          </p:cNvCxnSpPr>
          <p:nvPr/>
        </p:nvCxnSpPr>
        <p:spPr>
          <a:xfrm flipV="1">
            <a:off x="4992099" y="4639958"/>
            <a:ext cx="3689459" cy="1556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8146D0D8-84EC-4E44-AB03-0BD9D302C453}"/>
              </a:ext>
            </a:extLst>
          </p:cNvPr>
          <p:cNvCxnSpPr>
            <a:cxnSpLocks/>
          </p:cNvCxnSpPr>
          <p:nvPr/>
        </p:nvCxnSpPr>
        <p:spPr>
          <a:xfrm flipH="1" flipV="1">
            <a:off x="8678100" y="2940305"/>
            <a:ext cx="1" cy="1694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92EBCE0E-DD52-5E4C-8394-929460FB046F}"/>
              </a:ext>
            </a:extLst>
          </p:cNvPr>
          <p:cNvSpPr/>
          <p:nvPr/>
        </p:nvSpPr>
        <p:spPr>
          <a:xfrm>
            <a:off x="8128819" y="1149344"/>
            <a:ext cx="1154392" cy="1703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B1513C9-BD8D-DF4B-ADF0-F8820E3D0A3D}"/>
                  </a:ext>
                </a:extLst>
              </p:cNvPr>
              <p:cNvSpPr txBox="1"/>
              <p:nvPr/>
            </p:nvSpPr>
            <p:spPr>
              <a:xfrm>
                <a:off x="8295160" y="1151598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Sorted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B1513C9-BD8D-DF4B-ADF0-F8820E3D0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60" y="1151598"/>
                <a:ext cx="1207994" cy="276999"/>
              </a:xfrm>
              <a:prstGeom prst="rect">
                <a:avLst/>
              </a:prstGeom>
              <a:blipFill>
                <a:blip r:embed="rId3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D53F8805-208D-AB40-AD33-1E589FB61BD6}"/>
                  </a:ext>
                </a:extLst>
              </p:cNvPr>
              <p:cNvSpPr txBox="1"/>
              <p:nvPr/>
            </p:nvSpPr>
            <p:spPr>
              <a:xfrm>
                <a:off x="8211372" y="1486297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D53F8805-208D-AB40-AD33-1E589FB61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372" y="1486297"/>
                <a:ext cx="246491" cy="215444"/>
              </a:xfrm>
              <a:prstGeom prst="rect">
                <a:avLst/>
              </a:prstGeom>
              <a:blipFill>
                <a:blip r:embed="rId3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三角形 149">
            <a:extLst>
              <a:ext uri="{FF2B5EF4-FFF2-40B4-BE49-F238E27FC236}">
                <a16:creationId xmlns:a16="http://schemas.microsoft.com/office/drawing/2014/main" id="{BDA77120-9AA0-9143-83BE-10EFD94673B1}"/>
              </a:ext>
            </a:extLst>
          </p:cNvPr>
          <p:cNvSpPr/>
          <p:nvPr/>
        </p:nvSpPr>
        <p:spPr>
          <a:xfrm>
            <a:off x="8585556" y="1486297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66D3082F-8BDB-A74A-BFA1-C17D544D5503}"/>
              </a:ext>
            </a:extLst>
          </p:cNvPr>
          <p:cNvSpPr txBox="1"/>
          <p:nvPr/>
        </p:nvSpPr>
        <p:spPr>
          <a:xfrm>
            <a:off x="8794362" y="1480837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3.12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5EF1667B-B0C8-9144-8796-2E89FD46E684}"/>
                  </a:ext>
                </a:extLst>
              </p:cNvPr>
              <p:cNvSpPr txBox="1"/>
              <p:nvPr/>
            </p:nvSpPr>
            <p:spPr>
              <a:xfrm>
                <a:off x="8208324" y="1757569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5EF1667B-B0C8-9144-8796-2E89FD46E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324" y="1757569"/>
                <a:ext cx="246491" cy="215444"/>
              </a:xfrm>
              <a:prstGeom prst="rect">
                <a:avLst/>
              </a:prstGeom>
              <a:blipFill>
                <a:blip r:embed="rId40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三角形 152">
            <a:extLst>
              <a:ext uri="{FF2B5EF4-FFF2-40B4-BE49-F238E27FC236}">
                <a16:creationId xmlns:a16="http://schemas.microsoft.com/office/drawing/2014/main" id="{C50E55F7-985C-3D41-BDEA-0F5BE54400AE}"/>
              </a:ext>
            </a:extLst>
          </p:cNvPr>
          <p:cNvSpPr/>
          <p:nvPr/>
        </p:nvSpPr>
        <p:spPr>
          <a:xfrm>
            <a:off x="8583972" y="1766128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97533798-814B-F646-AC2A-C9698C85698A}"/>
              </a:ext>
            </a:extLst>
          </p:cNvPr>
          <p:cNvSpPr txBox="1"/>
          <p:nvPr/>
        </p:nvSpPr>
        <p:spPr>
          <a:xfrm>
            <a:off x="8806131" y="1770301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2.87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5A58E2F-934A-7A43-A565-585F12E7A860}"/>
                  </a:ext>
                </a:extLst>
              </p:cNvPr>
              <p:cNvSpPr txBox="1"/>
              <p:nvPr/>
            </p:nvSpPr>
            <p:spPr>
              <a:xfrm>
                <a:off x="8217468" y="2022745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5A58E2F-934A-7A43-A565-585F12E7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68" y="2022745"/>
                <a:ext cx="246491" cy="215444"/>
              </a:xfrm>
              <a:prstGeom prst="rect">
                <a:avLst/>
              </a:prstGeom>
              <a:blipFill>
                <a:blip r:embed="rId41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三角形 155">
            <a:extLst>
              <a:ext uri="{FF2B5EF4-FFF2-40B4-BE49-F238E27FC236}">
                <a16:creationId xmlns:a16="http://schemas.microsoft.com/office/drawing/2014/main" id="{95BCF3DF-ECBE-5D46-A72B-BF245FD67675}"/>
              </a:ext>
            </a:extLst>
          </p:cNvPr>
          <p:cNvSpPr/>
          <p:nvPr/>
        </p:nvSpPr>
        <p:spPr>
          <a:xfrm>
            <a:off x="8585556" y="2064273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A519CE42-2D07-834B-BC69-C327ECE0D28F}"/>
              </a:ext>
            </a:extLst>
          </p:cNvPr>
          <p:cNvSpPr txBox="1"/>
          <p:nvPr/>
        </p:nvSpPr>
        <p:spPr>
          <a:xfrm>
            <a:off x="8794362" y="2051096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2.05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D13A4485-E1A0-BE45-9F35-6F71FAC98477}"/>
                  </a:ext>
                </a:extLst>
              </p:cNvPr>
              <p:cNvSpPr txBox="1"/>
              <p:nvPr/>
            </p:nvSpPr>
            <p:spPr>
              <a:xfrm>
                <a:off x="8221123" y="2310190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D13A4485-E1A0-BE45-9F35-6F71FAC9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123" y="2310190"/>
                <a:ext cx="246491" cy="215444"/>
              </a:xfrm>
              <a:prstGeom prst="rect">
                <a:avLst/>
              </a:prstGeom>
              <a:blipFill>
                <a:blip r:embed="rId42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三角形 158">
            <a:extLst>
              <a:ext uri="{FF2B5EF4-FFF2-40B4-BE49-F238E27FC236}">
                <a16:creationId xmlns:a16="http://schemas.microsoft.com/office/drawing/2014/main" id="{F4F91111-268A-C843-9A0B-C26E431F814F}"/>
              </a:ext>
            </a:extLst>
          </p:cNvPr>
          <p:cNvSpPr/>
          <p:nvPr/>
        </p:nvSpPr>
        <p:spPr>
          <a:xfrm>
            <a:off x="8583972" y="2620277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BCA4B220-03C2-2241-A12C-52D87D016ACB}"/>
              </a:ext>
            </a:extLst>
          </p:cNvPr>
          <p:cNvSpPr txBox="1"/>
          <p:nvPr/>
        </p:nvSpPr>
        <p:spPr>
          <a:xfrm>
            <a:off x="8803858" y="2336568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1.99</a:t>
            </a:r>
            <a:endParaRPr kumimoji="1" lang="zh-CN" altLang="en-US" sz="800" b="1" i="1" dirty="0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E26E07A6-6D97-E745-81C0-58B5DC64875D}"/>
              </a:ext>
            </a:extLst>
          </p:cNvPr>
          <p:cNvSpPr/>
          <p:nvPr/>
        </p:nvSpPr>
        <p:spPr>
          <a:xfrm>
            <a:off x="8597417" y="236354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5219636D-8F11-DD4B-B5EA-E0B1DB2E498D}"/>
                  </a:ext>
                </a:extLst>
              </p:cNvPr>
              <p:cNvSpPr txBox="1"/>
              <p:nvPr/>
            </p:nvSpPr>
            <p:spPr>
              <a:xfrm>
                <a:off x="8233945" y="2598206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5219636D-8F11-DD4B-B5EA-E0B1DB2E4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945" y="2598206"/>
                <a:ext cx="246491" cy="215444"/>
              </a:xfrm>
              <a:prstGeom prst="rect">
                <a:avLst/>
              </a:prstGeom>
              <a:blipFill>
                <a:blip r:embed="rId43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文本框 162">
            <a:extLst>
              <a:ext uri="{FF2B5EF4-FFF2-40B4-BE49-F238E27FC236}">
                <a16:creationId xmlns:a16="http://schemas.microsoft.com/office/drawing/2014/main" id="{1B814822-9C04-FC47-9A49-A29D015F0D41}"/>
              </a:ext>
            </a:extLst>
          </p:cNvPr>
          <p:cNvSpPr txBox="1"/>
          <p:nvPr/>
        </p:nvSpPr>
        <p:spPr>
          <a:xfrm>
            <a:off x="8803858" y="2611509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1.96</a:t>
            </a:r>
            <a:endParaRPr kumimoji="1" lang="zh-CN" altLang="en-US" sz="800" b="1" i="1" dirty="0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CD3E564B-D3EB-0144-B52F-2372FD1F1537}"/>
              </a:ext>
            </a:extLst>
          </p:cNvPr>
          <p:cNvSpPr txBox="1"/>
          <p:nvPr/>
        </p:nvSpPr>
        <p:spPr>
          <a:xfrm>
            <a:off x="5233429" y="4344134"/>
            <a:ext cx="3252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III: Influence Evaluation 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056F0E7-C2C5-0C46-BCC2-82C26D8CE5E5}"/>
              </a:ext>
            </a:extLst>
          </p:cNvPr>
          <p:cNvSpPr txBox="1"/>
          <p:nvPr/>
        </p:nvSpPr>
        <p:spPr>
          <a:xfrm>
            <a:off x="5372857" y="499863"/>
            <a:ext cx="2973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II: Loss-Entropy-based Early-stopping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03AB47E8-3AC7-F64C-84DF-3542FC9DE48D}"/>
              </a:ext>
            </a:extLst>
          </p:cNvPr>
          <p:cNvCxnSpPr>
            <a:cxnSpLocks/>
          </p:cNvCxnSpPr>
          <p:nvPr/>
        </p:nvCxnSpPr>
        <p:spPr>
          <a:xfrm>
            <a:off x="9398359" y="2033637"/>
            <a:ext cx="6579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FC7C2EF-17AD-5C4E-813D-45171D9909B8}"/>
              </a:ext>
            </a:extLst>
          </p:cNvPr>
          <p:cNvSpPr txBox="1"/>
          <p:nvPr/>
        </p:nvSpPr>
        <p:spPr>
          <a:xfrm>
            <a:off x="9296579" y="2050503"/>
            <a:ext cx="934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Add top-k</a:t>
            </a:r>
            <a:endParaRPr kumimoji="1" lang="zh-CN" altLang="en-US" sz="1000" b="1" i="1" dirty="0"/>
          </a:p>
        </p:txBody>
      </p:sp>
      <p:sp>
        <p:nvSpPr>
          <p:cNvPr id="190" name="圆角矩形 189">
            <a:extLst>
              <a:ext uri="{FF2B5EF4-FFF2-40B4-BE49-F238E27FC236}">
                <a16:creationId xmlns:a16="http://schemas.microsoft.com/office/drawing/2014/main" id="{22BE2272-F3B3-C341-993B-A1D603EDC921}"/>
              </a:ext>
            </a:extLst>
          </p:cNvPr>
          <p:cNvSpPr/>
          <p:nvPr/>
        </p:nvSpPr>
        <p:spPr>
          <a:xfrm>
            <a:off x="10163959" y="1290580"/>
            <a:ext cx="1666571" cy="14187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EA7853C4-9208-BB45-8B15-0226121CA532}"/>
                  </a:ext>
                </a:extLst>
              </p:cNvPr>
              <p:cNvSpPr txBox="1"/>
              <p:nvPr/>
            </p:nvSpPr>
            <p:spPr>
              <a:xfrm>
                <a:off x="10129770" y="1309214"/>
                <a:ext cx="16389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/>
                  <a:t>Identified set </a:t>
                </a:r>
                <a14:m>
                  <m:oMath xmlns:m="http://schemas.openxmlformats.org/officeDocument/2006/math">
                    <m:r>
                      <a:rPr kumimoji="1" lang="en-US" altLang="zh-CN" sz="12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EA7853C4-9208-BB45-8B15-0226121CA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770" y="1309214"/>
                <a:ext cx="1638961" cy="276999"/>
              </a:xfrm>
              <a:prstGeom prst="rect">
                <a:avLst/>
              </a:prstGeom>
              <a:blipFill>
                <a:blip r:embed="rId4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线连接符 191">
            <a:extLst>
              <a:ext uri="{FF2B5EF4-FFF2-40B4-BE49-F238E27FC236}">
                <a16:creationId xmlns:a16="http://schemas.microsoft.com/office/drawing/2014/main" id="{DB7DA23E-35AD-894F-8D82-1D6EE6220016}"/>
              </a:ext>
            </a:extLst>
          </p:cNvPr>
          <p:cNvCxnSpPr>
            <a:cxnSpLocks/>
          </p:cNvCxnSpPr>
          <p:nvPr/>
        </p:nvCxnSpPr>
        <p:spPr>
          <a:xfrm>
            <a:off x="6853084" y="2291128"/>
            <a:ext cx="1" cy="69619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A75A1755-7C6A-1A48-A152-07FC158B76E8}"/>
              </a:ext>
            </a:extLst>
          </p:cNvPr>
          <p:cNvCxnSpPr>
            <a:cxnSpLocks/>
          </p:cNvCxnSpPr>
          <p:nvPr/>
        </p:nvCxnSpPr>
        <p:spPr>
          <a:xfrm>
            <a:off x="5633884" y="2988309"/>
            <a:ext cx="12192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线箭头连接符 193">
            <a:extLst>
              <a:ext uri="{FF2B5EF4-FFF2-40B4-BE49-F238E27FC236}">
                <a16:creationId xmlns:a16="http://schemas.microsoft.com/office/drawing/2014/main" id="{F07D9225-7B8C-1C42-AD68-748B2211902E}"/>
              </a:ext>
            </a:extLst>
          </p:cNvPr>
          <p:cNvCxnSpPr>
            <a:cxnSpLocks/>
          </p:cNvCxnSpPr>
          <p:nvPr/>
        </p:nvCxnSpPr>
        <p:spPr>
          <a:xfrm flipV="1">
            <a:off x="5641949" y="2389038"/>
            <a:ext cx="0" cy="5982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5EAC627C-8549-3C4C-AD6D-1E49FFE7B725}"/>
                  </a:ext>
                </a:extLst>
              </p:cNvPr>
              <p:cNvSpPr txBox="1"/>
              <p:nvPr/>
            </p:nvSpPr>
            <p:spPr>
              <a:xfrm>
                <a:off x="10477709" y="1655003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5EAC627C-8549-3C4C-AD6D-1E49FFE7B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709" y="1655003"/>
                <a:ext cx="246491" cy="215444"/>
              </a:xfrm>
              <a:prstGeom prst="rect">
                <a:avLst/>
              </a:prstGeom>
              <a:blipFill>
                <a:blip r:embed="rId45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三角形 197">
            <a:extLst>
              <a:ext uri="{FF2B5EF4-FFF2-40B4-BE49-F238E27FC236}">
                <a16:creationId xmlns:a16="http://schemas.microsoft.com/office/drawing/2014/main" id="{3574E588-C747-4840-9865-26722FBE6DF4}"/>
              </a:ext>
            </a:extLst>
          </p:cNvPr>
          <p:cNvSpPr/>
          <p:nvPr/>
        </p:nvSpPr>
        <p:spPr>
          <a:xfrm>
            <a:off x="10851893" y="1655003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7052FF03-D365-0B4B-AD8C-F603CE246419}"/>
              </a:ext>
            </a:extLst>
          </p:cNvPr>
          <p:cNvSpPr txBox="1"/>
          <p:nvPr/>
        </p:nvSpPr>
        <p:spPr>
          <a:xfrm>
            <a:off x="11060699" y="1649543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3.12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C456D876-6358-984F-8D89-6CEE01F130BE}"/>
                  </a:ext>
                </a:extLst>
              </p:cNvPr>
              <p:cNvSpPr txBox="1"/>
              <p:nvPr/>
            </p:nvSpPr>
            <p:spPr>
              <a:xfrm>
                <a:off x="10474661" y="1926275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C456D876-6358-984F-8D89-6CEE01F13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661" y="1926275"/>
                <a:ext cx="246491" cy="215444"/>
              </a:xfrm>
              <a:prstGeom prst="rect">
                <a:avLst/>
              </a:prstGeom>
              <a:blipFill>
                <a:blip r:embed="rId46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三角形 200">
            <a:extLst>
              <a:ext uri="{FF2B5EF4-FFF2-40B4-BE49-F238E27FC236}">
                <a16:creationId xmlns:a16="http://schemas.microsoft.com/office/drawing/2014/main" id="{9A9EFAAE-9CA8-324D-9E84-F8C429AD2CDD}"/>
              </a:ext>
            </a:extLst>
          </p:cNvPr>
          <p:cNvSpPr/>
          <p:nvPr/>
        </p:nvSpPr>
        <p:spPr>
          <a:xfrm>
            <a:off x="10850309" y="1934834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D258C6C-C254-FA46-BC0B-4F904E82FB33}"/>
              </a:ext>
            </a:extLst>
          </p:cNvPr>
          <p:cNvSpPr txBox="1"/>
          <p:nvPr/>
        </p:nvSpPr>
        <p:spPr>
          <a:xfrm>
            <a:off x="11072468" y="1939007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2.87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F2EC964-A75B-2344-9EBD-28D24F367AB3}"/>
                  </a:ext>
                </a:extLst>
              </p:cNvPr>
              <p:cNvSpPr txBox="1"/>
              <p:nvPr/>
            </p:nvSpPr>
            <p:spPr>
              <a:xfrm>
                <a:off x="10483805" y="2191451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F2EC964-A75B-2344-9EBD-28D24F367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805" y="2191451"/>
                <a:ext cx="246491" cy="215444"/>
              </a:xfrm>
              <a:prstGeom prst="rect">
                <a:avLst/>
              </a:prstGeom>
              <a:blipFill>
                <a:blip r:embed="rId4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三角形 203">
            <a:extLst>
              <a:ext uri="{FF2B5EF4-FFF2-40B4-BE49-F238E27FC236}">
                <a16:creationId xmlns:a16="http://schemas.microsoft.com/office/drawing/2014/main" id="{E84D2BC9-027F-F647-9E43-05FB120A9EE3}"/>
              </a:ext>
            </a:extLst>
          </p:cNvPr>
          <p:cNvSpPr/>
          <p:nvPr/>
        </p:nvSpPr>
        <p:spPr>
          <a:xfrm>
            <a:off x="10851893" y="2232979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14D6F9B4-34E3-ED40-9B8F-AC177D256C20}"/>
              </a:ext>
            </a:extLst>
          </p:cNvPr>
          <p:cNvSpPr txBox="1"/>
          <p:nvPr/>
        </p:nvSpPr>
        <p:spPr>
          <a:xfrm>
            <a:off x="11060699" y="2219802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2.05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402AAF84-64AF-F54D-813F-A04A38337EDE}"/>
              </a:ext>
            </a:extLst>
          </p:cNvPr>
          <p:cNvSpPr txBox="1"/>
          <p:nvPr/>
        </p:nvSpPr>
        <p:spPr>
          <a:xfrm>
            <a:off x="10760935" y="2436663"/>
            <a:ext cx="359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. . .</a:t>
            </a:r>
            <a:endParaRPr kumimoji="1" lang="zh-CN" altLang="en-US" sz="1200" b="1" dirty="0"/>
          </a:p>
        </p:txBody>
      </p: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B784A6C7-4EB4-E641-AF09-38E29DA0CB28}"/>
              </a:ext>
            </a:extLst>
          </p:cNvPr>
          <p:cNvCxnSpPr>
            <a:cxnSpLocks/>
          </p:cNvCxnSpPr>
          <p:nvPr/>
        </p:nvCxnSpPr>
        <p:spPr>
          <a:xfrm>
            <a:off x="10944796" y="2825062"/>
            <a:ext cx="0" cy="34085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5D772A23-95B4-B342-A8B0-AB2C14394053}"/>
              </a:ext>
            </a:extLst>
          </p:cNvPr>
          <p:cNvCxnSpPr>
            <a:cxnSpLocks/>
          </p:cNvCxnSpPr>
          <p:nvPr/>
        </p:nvCxnSpPr>
        <p:spPr>
          <a:xfrm flipH="1">
            <a:off x="1244721" y="6243485"/>
            <a:ext cx="97084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63B4C0F2-51A2-5447-BFED-0D4151770187}"/>
              </a:ext>
            </a:extLst>
          </p:cNvPr>
          <p:cNvCxnSpPr>
            <a:cxnSpLocks/>
          </p:cNvCxnSpPr>
          <p:nvPr/>
        </p:nvCxnSpPr>
        <p:spPr>
          <a:xfrm flipV="1">
            <a:off x="1255924" y="5411210"/>
            <a:ext cx="0" cy="832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A4D349CB-662D-6647-900B-5E5C7F0323FE}"/>
                  </a:ext>
                </a:extLst>
              </p:cNvPr>
              <p:cNvSpPr txBox="1"/>
              <p:nvPr/>
            </p:nvSpPr>
            <p:spPr>
              <a:xfrm>
                <a:off x="4077766" y="5950942"/>
                <a:ext cx="4036468" cy="260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Delete detected top-k from</a:t>
                </a:r>
                <a:r>
                  <a:rPr kumimoji="1" lang="en-US" altLang="zh-CN" sz="1000" b="1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r>
                  <a:rPr kumimoji="1" lang="en-US" altLang="zh-CN" sz="1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kumimoji="1"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A4D349CB-662D-6647-900B-5E5C7F032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766" y="5950942"/>
                <a:ext cx="4036468" cy="260328"/>
              </a:xfrm>
              <a:prstGeom prst="rect">
                <a:avLst/>
              </a:prstGeom>
              <a:blipFill>
                <a:blip r:embed="rId48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椭圆 223">
            <a:extLst>
              <a:ext uri="{FF2B5EF4-FFF2-40B4-BE49-F238E27FC236}">
                <a16:creationId xmlns:a16="http://schemas.microsoft.com/office/drawing/2014/main" id="{4F1A3D9A-9A4F-4043-BD5B-B97208D489F6}"/>
              </a:ext>
            </a:extLst>
          </p:cNvPr>
          <p:cNvSpPr/>
          <p:nvPr/>
        </p:nvSpPr>
        <p:spPr>
          <a:xfrm rot="19721041">
            <a:off x="1093255" y="4244176"/>
            <a:ext cx="554020" cy="32811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72ECFC19-0BC1-CC4D-A599-91C23EDC1C31}"/>
              </a:ext>
            </a:extLst>
          </p:cNvPr>
          <p:cNvSpPr/>
          <p:nvPr/>
        </p:nvSpPr>
        <p:spPr>
          <a:xfrm rot="19721041">
            <a:off x="1676005" y="4313712"/>
            <a:ext cx="554020" cy="32811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AFECADF6-3650-5C47-B498-4A89B2200707}"/>
              </a:ext>
            </a:extLst>
          </p:cNvPr>
          <p:cNvSpPr/>
          <p:nvPr/>
        </p:nvSpPr>
        <p:spPr>
          <a:xfrm rot="19721041">
            <a:off x="698581" y="4832073"/>
            <a:ext cx="554020" cy="32811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8" name="直线连接符 237">
            <a:extLst>
              <a:ext uri="{FF2B5EF4-FFF2-40B4-BE49-F238E27FC236}">
                <a16:creationId xmlns:a16="http://schemas.microsoft.com/office/drawing/2014/main" id="{AA2079D5-7937-0B4F-AF36-F7AD8753310F}"/>
              </a:ext>
            </a:extLst>
          </p:cNvPr>
          <p:cNvCxnSpPr>
            <a:cxnSpLocks/>
          </p:cNvCxnSpPr>
          <p:nvPr/>
        </p:nvCxnSpPr>
        <p:spPr>
          <a:xfrm>
            <a:off x="1201075" y="4360933"/>
            <a:ext cx="365481" cy="22757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7AC77CFE-3F40-A141-AFE2-49119958C1E9}"/>
              </a:ext>
            </a:extLst>
          </p:cNvPr>
          <p:cNvCxnSpPr>
            <a:cxnSpLocks/>
            <a:endCxn id="224" idx="3"/>
          </p:cNvCxnSpPr>
          <p:nvPr/>
        </p:nvCxnSpPr>
        <p:spPr>
          <a:xfrm flipH="1">
            <a:off x="1263219" y="4208180"/>
            <a:ext cx="196837" cy="400963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3EC1B16-6AFB-974C-9CD2-21E338579981}"/>
              </a:ext>
            </a:extLst>
          </p:cNvPr>
          <p:cNvCxnSpPr>
            <a:cxnSpLocks/>
          </p:cNvCxnSpPr>
          <p:nvPr/>
        </p:nvCxnSpPr>
        <p:spPr>
          <a:xfrm>
            <a:off x="1764955" y="4421893"/>
            <a:ext cx="365481" cy="2275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E14C491C-B8CC-5140-8C3B-683CAC89C0A2}"/>
              </a:ext>
            </a:extLst>
          </p:cNvPr>
          <p:cNvCxnSpPr>
            <a:cxnSpLocks/>
          </p:cNvCxnSpPr>
          <p:nvPr/>
        </p:nvCxnSpPr>
        <p:spPr>
          <a:xfrm flipH="1">
            <a:off x="1827099" y="4269140"/>
            <a:ext cx="196837" cy="40096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0351268B-B963-144C-BEDF-11BEB3355236}"/>
              </a:ext>
            </a:extLst>
          </p:cNvPr>
          <p:cNvCxnSpPr>
            <a:cxnSpLocks/>
          </p:cNvCxnSpPr>
          <p:nvPr/>
        </p:nvCxnSpPr>
        <p:spPr>
          <a:xfrm>
            <a:off x="850555" y="4943101"/>
            <a:ext cx="365481" cy="2275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CC4270B0-8A5B-AE48-B830-521527DD7BF1}"/>
              </a:ext>
            </a:extLst>
          </p:cNvPr>
          <p:cNvCxnSpPr>
            <a:cxnSpLocks/>
          </p:cNvCxnSpPr>
          <p:nvPr/>
        </p:nvCxnSpPr>
        <p:spPr>
          <a:xfrm flipH="1">
            <a:off x="912699" y="4790348"/>
            <a:ext cx="196837" cy="40096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4558490E-8761-E84E-A8A1-B8CEA2BAE61F}"/>
              </a:ext>
            </a:extLst>
          </p:cNvPr>
          <p:cNvCxnSpPr>
            <a:cxnSpLocks/>
          </p:cNvCxnSpPr>
          <p:nvPr/>
        </p:nvCxnSpPr>
        <p:spPr>
          <a:xfrm flipV="1">
            <a:off x="6460602" y="1182545"/>
            <a:ext cx="0" cy="821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线箭头连接符 254">
            <a:extLst>
              <a:ext uri="{FF2B5EF4-FFF2-40B4-BE49-F238E27FC236}">
                <a16:creationId xmlns:a16="http://schemas.microsoft.com/office/drawing/2014/main" id="{C95ADD97-6DD7-9D44-820A-4A8BB41A3B7B}"/>
              </a:ext>
            </a:extLst>
          </p:cNvPr>
          <p:cNvCxnSpPr>
            <a:cxnSpLocks/>
          </p:cNvCxnSpPr>
          <p:nvPr/>
        </p:nvCxnSpPr>
        <p:spPr>
          <a:xfrm flipV="1">
            <a:off x="6460602" y="2004348"/>
            <a:ext cx="8430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文本框 259">
            <a:extLst>
              <a:ext uri="{FF2B5EF4-FFF2-40B4-BE49-F238E27FC236}">
                <a16:creationId xmlns:a16="http://schemas.microsoft.com/office/drawing/2014/main" id="{FCBBA1E7-EC2B-2B4B-8429-7041F4B5C496}"/>
              </a:ext>
            </a:extLst>
          </p:cNvPr>
          <p:cNvSpPr txBox="1"/>
          <p:nvPr/>
        </p:nvSpPr>
        <p:spPr>
          <a:xfrm>
            <a:off x="6543788" y="2013145"/>
            <a:ext cx="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i="1" dirty="0">
                <a:solidFill>
                  <a:srgbClr val="FF0000"/>
                </a:solidFill>
              </a:rPr>
              <a:t>STOP ?</a:t>
            </a:r>
            <a:endParaRPr kumimoji="1" lang="zh-CN" altLang="en-US" sz="1200" b="1" i="1" dirty="0">
              <a:solidFill>
                <a:srgbClr val="FF0000"/>
              </a:solidFill>
            </a:endParaRPr>
          </a:p>
        </p:txBody>
      </p:sp>
      <p:sp>
        <p:nvSpPr>
          <p:cNvPr id="266" name="任意形状 265">
            <a:extLst>
              <a:ext uri="{FF2B5EF4-FFF2-40B4-BE49-F238E27FC236}">
                <a16:creationId xmlns:a16="http://schemas.microsoft.com/office/drawing/2014/main" id="{79AC91A8-951D-B34D-B601-81D02709B2A2}"/>
              </a:ext>
            </a:extLst>
          </p:cNvPr>
          <p:cNvSpPr/>
          <p:nvPr/>
        </p:nvSpPr>
        <p:spPr>
          <a:xfrm rot="21382375">
            <a:off x="6472225" y="1304493"/>
            <a:ext cx="706056" cy="671470"/>
          </a:xfrm>
          <a:custGeom>
            <a:avLst/>
            <a:gdLst>
              <a:gd name="connsiteX0" fmla="*/ 0 w 706056"/>
              <a:gd name="connsiteY0" fmla="*/ 625171 h 671470"/>
              <a:gd name="connsiteX1" fmla="*/ 347241 w 706056"/>
              <a:gd name="connsiteY1" fmla="*/ 138 h 671470"/>
              <a:gd name="connsiteX2" fmla="*/ 706056 w 706056"/>
              <a:gd name="connsiteY2" fmla="*/ 671470 h 671470"/>
              <a:gd name="connsiteX3" fmla="*/ 706056 w 706056"/>
              <a:gd name="connsiteY3" fmla="*/ 671470 h 67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056" h="671470">
                <a:moveTo>
                  <a:pt x="0" y="625171"/>
                </a:moveTo>
                <a:cubicBezTo>
                  <a:pt x="114782" y="308796"/>
                  <a:pt x="229565" y="-7579"/>
                  <a:pt x="347241" y="138"/>
                </a:cubicBezTo>
                <a:cubicBezTo>
                  <a:pt x="464917" y="7854"/>
                  <a:pt x="706056" y="671470"/>
                  <a:pt x="706056" y="671470"/>
                </a:cubicBezTo>
                <a:lnTo>
                  <a:pt x="706056" y="671470"/>
                </a:lnTo>
              </a:path>
            </a:pathLst>
          </a:custGeom>
          <a:solidFill>
            <a:schemeClr val="bg2">
              <a:lumMod val="90000"/>
              <a:alpha val="58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272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6DAE202-14D7-0345-ACF5-5C9315C57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78686"/>
                  </p:ext>
                </p:extLst>
              </p:nvPr>
            </p:nvGraphicFramePr>
            <p:xfrm>
              <a:off x="577688" y="1497998"/>
              <a:ext cx="1845516" cy="33302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0337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4214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496128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95886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1172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418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6DAE202-14D7-0345-ACF5-5C9315C575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78686"/>
                  </p:ext>
                </p:extLst>
              </p:nvPr>
            </p:nvGraphicFramePr>
            <p:xfrm>
              <a:off x="577688" y="1497998"/>
              <a:ext cx="1845516" cy="33302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113636" r="-444444" b="-9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223810" r="-444444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309091" r="-444444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409091" r="-444444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509091" r="-444444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638095" r="-444444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5033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704545" r="-444444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8421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804545" r="-44444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4961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904545" r="-444444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295886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" t="-1052381" r="-444444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61172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41810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0AE7AB59-7AD9-EC4E-A05E-8D16D8FAA835}"/>
              </a:ext>
            </a:extLst>
          </p:cNvPr>
          <p:cNvCxnSpPr>
            <a:cxnSpLocks/>
          </p:cNvCxnSpPr>
          <p:nvPr/>
        </p:nvCxnSpPr>
        <p:spPr>
          <a:xfrm>
            <a:off x="2454554" y="2921648"/>
            <a:ext cx="433562" cy="13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六边形 5">
            <a:extLst>
              <a:ext uri="{FF2B5EF4-FFF2-40B4-BE49-F238E27FC236}">
                <a16:creationId xmlns:a16="http://schemas.microsoft.com/office/drawing/2014/main" id="{3DFE5B3F-5D6D-5A46-9D0B-7BAB51CD218D}"/>
              </a:ext>
            </a:extLst>
          </p:cNvPr>
          <p:cNvSpPr/>
          <p:nvPr/>
        </p:nvSpPr>
        <p:spPr>
          <a:xfrm>
            <a:off x="2944817" y="2605469"/>
            <a:ext cx="741944" cy="654467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484E7C-3CF6-9149-8F38-7B9B030EA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818" y="2690156"/>
            <a:ext cx="485091" cy="4850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1062C6-D366-A144-B702-74FA05281E62}"/>
                  </a:ext>
                </a:extLst>
              </p:cNvPr>
              <p:cNvSpPr txBox="1"/>
              <p:nvPr/>
            </p:nvSpPr>
            <p:spPr>
              <a:xfrm>
                <a:off x="2947580" y="2193617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00" dirty="0"/>
                  <a:t>Network 1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000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1062C6-D366-A144-B702-74FA05281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580" y="2193617"/>
                <a:ext cx="75373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B2E8FF9-7857-7743-B793-A5DB5FF98C0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686761" y="1915765"/>
            <a:ext cx="514810" cy="10169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9A704DE-8BE8-B144-A057-5BEA572ADF7A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3686761" y="2932703"/>
            <a:ext cx="521613" cy="1268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4969C6AD-7696-7C43-BE59-55819CB58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5466970"/>
                  </p:ext>
                </p:extLst>
              </p:nvPr>
            </p:nvGraphicFramePr>
            <p:xfrm>
              <a:off x="4271941" y="1329420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rgbClr val="FFC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表格 15">
                <a:extLst>
                  <a:ext uri="{FF2B5EF4-FFF2-40B4-BE49-F238E27FC236}">
                    <a16:creationId xmlns:a16="http://schemas.microsoft.com/office/drawing/2014/main" id="{4969C6AD-7696-7C43-BE59-55819CB58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5466970"/>
                  </p:ext>
                </p:extLst>
              </p:nvPr>
            </p:nvGraphicFramePr>
            <p:xfrm>
              <a:off x="4271941" y="1329420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rgbClr val="FFC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endParaRPr lang="zh-CN" altLang="en-US" sz="12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118182" r="-444444" b="-4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218182" r="-444444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333333" r="-444444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04" t="-413636" r="-444444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…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6F2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5946C8CF-9C98-2949-A89C-B3CDED821473}"/>
              </a:ext>
            </a:extLst>
          </p:cNvPr>
          <p:cNvSpPr/>
          <p:nvPr/>
        </p:nvSpPr>
        <p:spPr>
          <a:xfrm>
            <a:off x="443934" y="503910"/>
            <a:ext cx="11279853" cy="412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875208-45BA-2D44-9392-3149A9C5FEEC}"/>
              </a:ext>
            </a:extLst>
          </p:cNvPr>
          <p:cNvSpPr txBox="1"/>
          <p:nvPr/>
        </p:nvSpPr>
        <p:spPr>
          <a:xfrm>
            <a:off x="1983197" y="571239"/>
            <a:ext cx="2663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Loss-Based Sample Selection</a:t>
            </a:r>
            <a:endParaRPr kumimoji="1" lang="zh-CN" altLang="en-US" sz="1400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55D685-D547-164F-9862-C56D8C532AC5}"/>
              </a:ext>
            </a:extLst>
          </p:cNvPr>
          <p:cNvSpPr/>
          <p:nvPr/>
        </p:nvSpPr>
        <p:spPr>
          <a:xfrm>
            <a:off x="443935" y="495456"/>
            <a:ext cx="11279860" cy="514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85F3EBA-0C35-254B-8376-9CEAE4757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860903"/>
                  </p:ext>
                </p:extLst>
              </p:nvPr>
            </p:nvGraphicFramePr>
            <p:xfrm>
              <a:off x="4271941" y="3561351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" name="表格 19">
                <a:extLst>
                  <a:ext uri="{FF2B5EF4-FFF2-40B4-BE49-F238E27FC236}">
                    <a16:creationId xmlns:a16="http://schemas.microsoft.com/office/drawing/2014/main" id="{185F3EBA-0C35-254B-8376-9CEAE47575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860903"/>
                  </p:ext>
                </p:extLst>
              </p:nvPr>
            </p:nvGraphicFramePr>
            <p:xfrm>
              <a:off x="4271941" y="3561351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118182" r="-444444" b="-3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218182" r="-444444" b="-2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333333" r="-444444" b="-2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413636" r="-4444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04" t="-513636" r="-4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AC7DBC8-2254-1541-AA24-9741D8768C2D}"/>
              </a:ext>
            </a:extLst>
          </p:cNvPr>
          <p:cNvCxnSpPr>
            <a:cxnSpLocks/>
          </p:cNvCxnSpPr>
          <p:nvPr/>
        </p:nvCxnSpPr>
        <p:spPr>
          <a:xfrm>
            <a:off x="5091843" y="3055199"/>
            <a:ext cx="0" cy="47780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D4F43B3-A2AF-8542-9DEC-1D69A454491E}"/>
              </a:ext>
            </a:extLst>
          </p:cNvPr>
          <p:cNvSpPr txBox="1"/>
          <p:nvPr/>
        </p:nvSpPr>
        <p:spPr>
          <a:xfrm>
            <a:off x="5091843" y="3001199"/>
            <a:ext cx="7537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Small Loss</a:t>
            </a:r>
            <a:endParaRPr kumimoji="1" lang="zh-CN" altLang="en-US" sz="1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9F6EAED-A235-E048-947E-2EB624408B12}"/>
              </a:ext>
            </a:extLst>
          </p:cNvPr>
          <p:cNvSpPr txBox="1"/>
          <p:nvPr/>
        </p:nvSpPr>
        <p:spPr>
          <a:xfrm>
            <a:off x="5104683" y="3329306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Large Loss</a:t>
            </a:r>
            <a:endParaRPr kumimoji="1" lang="zh-CN" altLang="en-US" sz="1000" dirty="0"/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688FA1F1-877B-E846-9A3B-1CA7ADE486D0}"/>
              </a:ext>
            </a:extLst>
          </p:cNvPr>
          <p:cNvCxnSpPr>
            <a:cxnSpLocks/>
          </p:cNvCxnSpPr>
          <p:nvPr/>
        </p:nvCxnSpPr>
        <p:spPr>
          <a:xfrm>
            <a:off x="6396620" y="503910"/>
            <a:ext cx="0" cy="5147554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1DAC64F-335A-3A40-9C79-24BCBA5B332A}"/>
                  </a:ext>
                </a:extLst>
              </p:cNvPr>
              <p:cNvSpPr txBox="1"/>
              <p:nvPr/>
            </p:nvSpPr>
            <p:spPr>
              <a:xfrm>
                <a:off x="1018797" y="1186524"/>
                <a:ext cx="1207994" cy="293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1DAC64F-335A-3A40-9C79-24BCBA5B3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97" y="1186524"/>
                <a:ext cx="1207994" cy="293991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74B4F02-577D-764A-9BA7-936AE0C2CF58}"/>
                  </a:ext>
                </a:extLst>
              </p:cNvPr>
              <p:cNvSpPr txBox="1"/>
              <p:nvPr/>
            </p:nvSpPr>
            <p:spPr>
              <a:xfrm>
                <a:off x="4590702" y="1016549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Clean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974B4F02-577D-764A-9BA7-936AE0C2C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02" y="1016549"/>
                <a:ext cx="1207994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D24E986-F35F-C345-B5A1-BC6F62DC902E}"/>
                  </a:ext>
                </a:extLst>
              </p:cNvPr>
              <p:cNvSpPr txBox="1"/>
              <p:nvPr/>
            </p:nvSpPr>
            <p:spPr>
              <a:xfrm>
                <a:off x="4611968" y="5242332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Dirty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D24E986-F35F-C345-B5A1-BC6F62DC9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68" y="5242332"/>
                <a:ext cx="1207994" cy="276999"/>
              </a:xfrm>
              <a:prstGeom prst="rect">
                <a:avLst/>
              </a:prstGeom>
              <a:blipFill>
                <a:blip r:embed="rId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FB0A3C3-7E78-FA4E-994C-CF32D64DC08F}"/>
              </a:ext>
            </a:extLst>
          </p:cNvPr>
          <p:cNvCxnSpPr>
            <a:cxnSpLocks/>
          </p:cNvCxnSpPr>
          <p:nvPr/>
        </p:nvCxnSpPr>
        <p:spPr>
          <a:xfrm>
            <a:off x="6149356" y="2200534"/>
            <a:ext cx="5076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六边形 43">
            <a:extLst>
              <a:ext uri="{FF2B5EF4-FFF2-40B4-BE49-F238E27FC236}">
                <a16:creationId xmlns:a16="http://schemas.microsoft.com/office/drawing/2014/main" id="{B13405BC-B7F1-1244-AE75-6D804C77CAEC}"/>
              </a:ext>
            </a:extLst>
          </p:cNvPr>
          <p:cNvSpPr/>
          <p:nvPr/>
        </p:nvSpPr>
        <p:spPr>
          <a:xfrm>
            <a:off x="6669765" y="1875364"/>
            <a:ext cx="741944" cy="654467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5FAFEBA-30C1-C440-A73C-4182333B1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766" y="1960051"/>
            <a:ext cx="485091" cy="4850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F391998-6B34-A845-B976-B84147C3593A}"/>
                  </a:ext>
                </a:extLst>
              </p:cNvPr>
              <p:cNvSpPr txBox="1"/>
              <p:nvPr/>
            </p:nvSpPr>
            <p:spPr>
              <a:xfrm>
                <a:off x="6655488" y="1465441"/>
                <a:ext cx="7537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000" dirty="0"/>
                  <a:t>Network 2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1000" dirty="0"/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F391998-6B34-A845-B976-B84147C35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488" y="1465441"/>
                <a:ext cx="75373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0EDCE53C-58A4-5F4F-B942-F353875DC74A}"/>
              </a:ext>
            </a:extLst>
          </p:cNvPr>
          <p:cNvCxnSpPr>
            <a:cxnSpLocks/>
          </p:cNvCxnSpPr>
          <p:nvPr/>
        </p:nvCxnSpPr>
        <p:spPr>
          <a:xfrm>
            <a:off x="6378383" y="3329306"/>
            <a:ext cx="5345404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77B487D-DC73-5442-8654-4B4FBAD69090}"/>
              </a:ext>
            </a:extLst>
          </p:cNvPr>
          <p:cNvCxnSpPr>
            <a:cxnSpLocks/>
          </p:cNvCxnSpPr>
          <p:nvPr/>
        </p:nvCxnSpPr>
        <p:spPr>
          <a:xfrm>
            <a:off x="7432056" y="2203564"/>
            <a:ext cx="3489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0B5F9F0A-0630-6649-9FD9-D4B040BB8768}"/>
              </a:ext>
            </a:extLst>
          </p:cNvPr>
          <p:cNvCxnSpPr>
            <a:cxnSpLocks/>
          </p:cNvCxnSpPr>
          <p:nvPr/>
        </p:nvCxnSpPr>
        <p:spPr>
          <a:xfrm flipV="1">
            <a:off x="7840798" y="1614749"/>
            <a:ext cx="0" cy="821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6087295E-6C7E-A443-8969-376A6F7349CD}"/>
              </a:ext>
            </a:extLst>
          </p:cNvPr>
          <p:cNvCxnSpPr>
            <a:cxnSpLocks/>
          </p:cNvCxnSpPr>
          <p:nvPr/>
        </p:nvCxnSpPr>
        <p:spPr>
          <a:xfrm flipV="1">
            <a:off x="7837472" y="2436552"/>
            <a:ext cx="8430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06900F0-679D-6A43-81C0-A4E174BE43DE}"/>
              </a:ext>
            </a:extLst>
          </p:cNvPr>
          <p:cNvSpPr txBox="1"/>
          <p:nvPr/>
        </p:nvSpPr>
        <p:spPr>
          <a:xfrm>
            <a:off x="7881714" y="2455228"/>
            <a:ext cx="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i="1" dirty="0">
                <a:solidFill>
                  <a:srgbClr val="FF0000"/>
                </a:solidFill>
              </a:rPr>
              <a:t>STOP ?</a:t>
            </a:r>
            <a:endParaRPr kumimoji="1" lang="zh-CN" altLang="en-US" sz="1200" b="1" i="1" dirty="0">
              <a:solidFill>
                <a:srgbClr val="FF0000"/>
              </a:solidFill>
            </a:endParaRPr>
          </a:p>
        </p:txBody>
      </p:sp>
      <p:sp>
        <p:nvSpPr>
          <p:cNvPr id="58" name="任意形状 57">
            <a:extLst>
              <a:ext uri="{FF2B5EF4-FFF2-40B4-BE49-F238E27FC236}">
                <a16:creationId xmlns:a16="http://schemas.microsoft.com/office/drawing/2014/main" id="{1ACE6E38-AE75-CF42-B026-11030102EAF1}"/>
              </a:ext>
            </a:extLst>
          </p:cNvPr>
          <p:cNvSpPr/>
          <p:nvPr/>
        </p:nvSpPr>
        <p:spPr>
          <a:xfrm>
            <a:off x="7863187" y="1883549"/>
            <a:ext cx="729205" cy="544020"/>
          </a:xfrm>
          <a:custGeom>
            <a:avLst/>
            <a:gdLst>
              <a:gd name="connsiteX0" fmla="*/ 0 w 729205"/>
              <a:gd name="connsiteY0" fmla="*/ 532445 h 544020"/>
              <a:gd name="connsiteX1" fmla="*/ 162046 w 729205"/>
              <a:gd name="connsiteY1" fmla="*/ 10 h 544020"/>
              <a:gd name="connsiteX2" fmla="*/ 729205 w 729205"/>
              <a:gd name="connsiteY2" fmla="*/ 544020 h 54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9205" h="544020">
                <a:moveTo>
                  <a:pt x="0" y="532445"/>
                </a:moveTo>
                <a:cubicBezTo>
                  <a:pt x="20256" y="265263"/>
                  <a:pt x="40512" y="-1919"/>
                  <a:pt x="162046" y="10"/>
                </a:cubicBezTo>
                <a:cubicBezTo>
                  <a:pt x="283580" y="1939"/>
                  <a:pt x="506392" y="272979"/>
                  <a:pt x="729205" y="544020"/>
                </a:cubicBezTo>
              </a:path>
            </a:pathLst>
          </a:custGeom>
          <a:solidFill>
            <a:schemeClr val="bg2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329148F-AA33-F34A-A5C7-B62B82EE2EB0}"/>
              </a:ext>
            </a:extLst>
          </p:cNvPr>
          <p:cNvSpPr txBox="1"/>
          <p:nvPr/>
        </p:nvSpPr>
        <p:spPr>
          <a:xfrm>
            <a:off x="7828438" y="1647598"/>
            <a:ext cx="8835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/>
              <a:t>Loss</a:t>
            </a:r>
            <a:r>
              <a:rPr kumimoji="1" lang="zh-CN" altLang="en-US" sz="1000" dirty="0"/>
              <a:t> </a:t>
            </a:r>
            <a:r>
              <a:rPr kumimoji="1" lang="en-US" altLang="zh-CN" sz="1000" dirty="0"/>
              <a:t>Entropy</a:t>
            </a:r>
            <a:endParaRPr kumimoji="1" lang="zh-CN" altLang="en-US" sz="1000" dirty="0"/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FADBCD2E-D4C6-1D4A-BD12-96F33226925C}"/>
              </a:ext>
            </a:extLst>
          </p:cNvPr>
          <p:cNvCxnSpPr>
            <a:cxnSpLocks/>
          </p:cNvCxnSpPr>
          <p:nvPr/>
        </p:nvCxnSpPr>
        <p:spPr>
          <a:xfrm>
            <a:off x="8592392" y="2216264"/>
            <a:ext cx="5076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271A1EE-F0AA-6C4F-A5DC-301EC4CBA70B}"/>
              </a:ext>
            </a:extLst>
          </p:cNvPr>
          <p:cNvSpPr txBox="1"/>
          <p:nvPr/>
        </p:nvSpPr>
        <p:spPr>
          <a:xfrm>
            <a:off x="8611950" y="1985793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Yes</a:t>
            </a:r>
            <a:endParaRPr kumimoji="1" lang="zh-CN" altLang="en-US" sz="1000" b="1" i="1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208A2D0D-8C47-404F-B890-8A6CF3D3E1A9}"/>
              </a:ext>
            </a:extLst>
          </p:cNvPr>
          <p:cNvCxnSpPr>
            <a:cxnSpLocks/>
          </p:cNvCxnSpPr>
          <p:nvPr/>
        </p:nvCxnSpPr>
        <p:spPr>
          <a:xfrm>
            <a:off x="9137677" y="495456"/>
            <a:ext cx="0" cy="283385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F3B071FA-143E-1D48-B987-CA10646BB8A9}"/>
              </a:ext>
            </a:extLst>
          </p:cNvPr>
          <p:cNvSpPr txBox="1"/>
          <p:nvPr/>
        </p:nvSpPr>
        <p:spPr>
          <a:xfrm>
            <a:off x="6568923" y="571239"/>
            <a:ext cx="2481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Loss-Entropy Early-stopping</a:t>
            </a:r>
            <a:endParaRPr kumimoji="1" lang="zh-CN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6" name="表格 85">
                <a:extLst>
                  <a:ext uri="{FF2B5EF4-FFF2-40B4-BE49-F238E27FC236}">
                    <a16:creationId xmlns:a16="http://schemas.microsoft.com/office/drawing/2014/main" id="{6FE9B88A-108C-074B-9DB4-D20C523A48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676370"/>
                  </p:ext>
                </p:extLst>
              </p:nvPr>
            </p:nvGraphicFramePr>
            <p:xfrm>
              <a:off x="7566316" y="3562763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6" name="表格 85">
                <a:extLst>
                  <a:ext uri="{FF2B5EF4-FFF2-40B4-BE49-F238E27FC236}">
                    <a16:creationId xmlns:a16="http://schemas.microsoft.com/office/drawing/2014/main" id="{6FE9B88A-108C-074B-9DB4-D20C523A48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676370"/>
                  </p:ext>
                </p:extLst>
              </p:nvPr>
            </p:nvGraphicFramePr>
            <p:xfrm>
              <a:off x="7566316" y="3562763"/>
              <a:ext cx="1845516" cy="1684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118182" r="-428571" b="-3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218182" r="-428571" b="-29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333333" r="-428571" b="-2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413636" r="-42857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06304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571" t="-513636" r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9948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633145D-686E-4C43-8260-30161BFDF987}"/>
                  </a:ext>
                </a:extLst>
              </p:cNvPr>
              <p:cNvSpPr txBox="1"/>
              <p:nvPr/>
            </p:nvSpPr>
            <p:spPr>
              <a:xfrm>
                <a:off x="7906343" y="5243744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/>
                  <a:t>Sorted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633145D-686E-4C43-8260-30161BFDF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43" y="5243744"/>
                <a:ext cx="1207994" cy="276999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E0881762-98D3-5941-8025-CCB7DD14438E}"/>
              </a:ext>
            </a:extLst>
          </p:cNvPr>
          <p:cNvCxnSpPr>
            <a:cxnSpLocks/>
          </p:cNvCxnSpPr>
          <p:nvPr/>
        </p:nvCxnSpPr>
        <p:spPr>
          <a:xfrm>
            <a:off x="6110028" y="4423035"/>
            <a:ext cx="126235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872CF2F5-0B44-8442-ACA8-4D9179C7A52C}"/>
                  </a:ext>
                </a:extLst>
              </p:cNvPr>
              <p:cNvSpPr txBox="1"/>
              <p:nvPr/>
            </p:nvSpPr>
            <p:spPr>
              <a:xfrm>
                <a:off x="6462160" y="4176814"/>
                <a:ext cx="8215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1000" b="1" i="1" smtClean="0">
                          <a:latin typeface="Cambria Math" panose="02040503050406030204" pitchFamily="18" charset="0"/>
                        </a:rPr>
                        <m:t>𝜵</m:t>
                      </m:r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(.,</m:t>
                      </m:r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872CF2F5-0B44-8442-ACA8-4D9179C7A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160" y="4176814"/>
                <a:ext cx="821507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28C63FBE-9AED-E84D-8011-B48700BFADCB}"/>
              </a:ext>
            </a:extLst>
          </p:cNvPr>
          <p:cNvCxnSpPr/>
          <p:nvPr/>
        </p:nvCxnSpPr>
        <p:spPr>
          <a:xfrm>
            <a:off x="7016339" y="2585794"/>
            <a:ext cx="11655" cy="1583087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8EA339A5-84AF-0E45-A27C-5B82B56B925D}"/>
              </a:ext>
            </a:extLst>
          </p:cNvPr>
          <p:cNvCxnSpPr>
            <a:cxnSpLocks/>
          </p:cNvCxnSpPr>
          <p:nvPr/>
        </p:nvCxnSpPr>
        <p:spPr>
          <a:xfrm flipV="1">
            <a:off x="8309928" y="1149120"/>
            <a:ext cx="0" cy="326153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FCE8FABB-6FC1-F041-AC01-889B5C91FA57}"/>
              </a:ext>
            </a:extLst>
          </p:cNvPr>
          <p:cNvCxnSpPr>
            <a:cxnSpLocks/>
          </p:cNvCxnSpPr>
          <p:nvPr/>
        </p:nvCxnSpPr>
        <p:spPr>
          <a:xfrm>
            <a:off x="6971236" y="1158378"/>
            <a:ext cx="134705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E82E2364-C573-B54B-8FE2-EDFB89ECA8D6}"/>
              </a:ext>
            </a:extLst>
          </p:cNvPr>
          <p:cNvCxnSpPr>
            <a:cxnSpLocks/>
          </p:cNvCxnSpPr>
          <p:nvPr/>
        </p:nvCxnSpPr>
        <p:spPr>
          <a:xfrm>
            <a:off x="6971236" y="1164880"/>
            <a:ext cx="0" cy="300561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25A7E2D-EA2A-0F4F-97E3-9D4473585513}"/>
              </a:ext>
            </a:extLst>
          </p:cNvPr>
          <p:cNvSpPr txBox="1"/>
          <p:nvPr/>
        </p:nvSpPr>
        <p:spPr>
          <a:xfrm>
            <a:off x="7409636" y="1157577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No</a:t>
            </a:r>
            <a:endParaRPr kumimoji="1" lang="zh-CN" altLang="en-US" sz="1000" b="1" i="1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9F041B0-A441-0645-88A0-501A3C38DA97}"/>
              </a:ext>
            </a:extLst>
          </p:cNvPr>
          <p:cNvSpPr txBox="1"/>
          <p:nvPr/>
        </p:nvSpPr>
        <p:spPr>
          <a:xfrm>
            <a:off x="7006312" y="3025693"/>
            <a:ext cx="1369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/>
              <a:t>Influence</a:t>
            </a:r>
            <a:r>
              <a:rPr kumimoji="1" lang="zh-CN" altLang="en-US" sz="1000" b="1" dirty="0"/>
              <a:t> </a:t>
            </a:r>
            <a:r>
              <a:rPr kumimoji="1" lang="en-US" altLang="zh-CN" sz="1000" b="1" dirty="0"/>
              <a:t>Evaluation</a:t>
            </a:r>
            <a:endParaRPr kumimoji="1" lang="zh-CN" altLang="en-US" sz="1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2C11797C-D104-3B40-B629-3EFD82FDC5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6132505"/>
                  </p:ext>
                </p:extLst>
              </p:nvPr>
            </p:nvGraphicFramePr>
            <p:xfrm>
              <a:off x="9262386" y="1611056"/>
              <a:ext cx="1845516" cy="11357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5773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e>
                                  <m:sub>
                                    <m:r>
                                      <a:rPr lang="en-US" altLang="zh-CN" sz="12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b="1" i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2C11797C-D104-3B40-B629-3EFD82FDC5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6132505"/>
                  </p:ext>
                </p:extLst>
              </p:nvPr>
            </p:nvGraphicFramePr>
            <p:xfrm>
              <a:off x="9262386" y="1611056"/>
              <a:ext cx="1845516" cy="11357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459">
                      <a:extLst>
                        <a:ext uri="{9D8B030D-6E8A-4147-A177-3AD203B41FA5}">
                          <a16:colId xmlns:a16="http://schemas.microsoft.com/office/drawing/2014/main" val="1220820292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1305122807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44009723"/>
                        </a:ext>
                      </a:extLst>
                    </a:gridCol>
                    <a:gridCol w="500019">
                      <a:extLst>
                        <a:ext uri="{9D8B030D-6E8A-4147-A177-3AD203B41FA5}">
                          <a16:colId xmlns:a16="http://schemas.microsoft.com/office/drawing/2014/main" val="3735970905"/>
                        </a:ext>
                      </a:extLst>
                    </a:gridCol>
                  </a:tblGrid>
                  <a:tr h="312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200" b="1" dirty="0"/>
                            <a:t>ID</a:t>
                          </a:r>
                          <a:endParaRPr lang="zh-CN" altLang="en-US" sz="1200" b="1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74186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3704" t="-118182" r="-44444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84267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3704" t="-218182" r="-44444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738766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3704" t="-318182" r="-44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200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63985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02D941-1669-1E48-8306-8CE6F86C6456}"/>
                  </a:ext>
                </a:extLst>
              </p:cNvPr>
              <p:cNvSpPr txBox="1"/>
              <p:nvPr/>
            </p:nvSpPr>
            <p:spPr>
              <a:xfrm>
                <a:off x="9380370" y="1295529"/>
                <a:ext cx="16356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200" b="1" dirty="0"/>
                  <a:t>Misclassified Set </a:t>
                </a:r>
                <a14:m>
                  <m:oMath xmlns:m="http://schemas.openxmlformats.org/officeDocument/2006/math">
                    <m:r>
                      <a:rPr kumimoji="1" lang="en-US" altLang="zh-CN" sz="12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E02D941-1669-1E48-8306-8CE6F86C6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370" y="1295529"/>
                <a:ext cx="1635663" cy="276999"/>
              </a:xfrm>
              <a:prstGeom prst="rect">
                <a:avLst/>
              </a:prstGeom>
              <a:blipFill>
                <a:blip r:embed="rId1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曲线连接符 200">
            <a:extLst>
              <a:ext uri="{FF2B5EF4-FFF2-40B4-BE49-F238E27FC236}">
                <a16:creationId xmlns:a16="http://schemas.microsoft.com/office/drawing/2014/main" id="{44F304B7-3A79-D644-9DEC-85084301D01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46547" y="2150787"/>
            <a:ext cx="1782396" cy="1759978"/>
          </a:xfrm>
          <a:prstGeom prst="curvedConnector4">
            <a:avLst>
              <a:gd name="adj1" fmla="val 34071"/>
              <a:gd name="adj2" fmla="val 112989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曲线连接符 201">
            <a:extLst>
              <a:ext uri="{FF2B5EF4-FFF2-40B4-BE49-F238E27FC236}">
                <a16:creationId xmlns:a16="http://schemas.microsoft.com/office/drawing/2014/main" id="{2C39D88D-2830-A64D-A7F3-43991FC19C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41629" y="2440838"/>
            <a:ext cx="1782396" cy="1759978"/>
          </a:xfrm>
          <a:prstGeom prst="curvedConnector4">
            <a:avLst>
              <a:gd name="adj1" fmla="val 34071"/>
              <a:gd name="adj2" fmla="val 112989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曲线连接符 202">
            <a:extLst>
              <a:ext uri="{FF2B5EF4-FFF2-40B4-BE49-F238E27FC236}">
                <a16:creationId xmlns:a16="http://schemas.microsoft.com/office/drawing/2014/main" id="{BB881F20-6CA9-4041-B877-1A294EA5EEF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51463" y="2725974"/>
            <a:ext cx="1782396" cy="1759978"/>
          </a:xfrm>
          <a:prstGeom prst="curvedConnector4">
            <a:avLst>
              <a:gd name="adj1" fmla="val 34071"/>
              <a:gd name="adj2" fmla="val 112989"/>
            </a:avLst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左大括号 207">
            <a:extLst>
              <a:ext uri="{FF2B5EF4-FFF2-40B4-BE49-F238E27FC236}">
                <a16:creationId xmlns:a16="http://schemas.microsoft.com/office/drawing/2014/main" id="{93CD8F26-5E9D-2D48-AE0F-6B346FC77853}"/>
              </a:ext>
            </a:extLst>
          </p:cNvPr>
          <p:cNvSpPr/>
          <p:nvPr/>
        </p:nvSpPr>
        <p:spPr>
          <a:xfrm>
            <a:off x="7383121" y="3886455"/>
            <a:ext cx="131466" cy="82143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35EF164B-6DB4-DA46-9BE4-1263CB2F12CE}"/>
              </a:ext>
            </a:extLst>
          </p:cNvPr>
          <p:cNvSpPr txBox="1"/>
          <p:nvPr/>
        </p:nvSpPr>
        <p:spPr>
          <a:xfrm>
            <a:off x="7006311" y="3025693"/>
            <a:ext cx="2119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/>
              <a:t>Influence</a:t>
            </a:r>
            <a:r>
              <a:rPr kumimoji="1" lang="zh-CN" altLang="en-US" sz="1000" b="1" dirty="0"/>
              <a:t> </a:t>
            </a:r>
            <a:r>
              <a:rPr kumimoji="1" lang="en-US" altLang="zh-CN" sz="1000" b="1" dirty="0"/>
              <a:t>Evaluation</a:t>
            </a:r>
            <a:endParaRPr kumimoji="1" lang="zh-CN" altLang="en-US" sz="1000" b="1" dirty="0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C43EFFF5-1A51-9E4A-9FB9-E1114D77B709}"/>
              </a:ext>
            </a:extLst>
          </p:cNvPr>
          <p:cNvSpPr txBox="1"/>
          <p:nvPr/>
        </p:nvSpPr>
        <p:spPr>
          <a:xfrm>
            <a:off x="6479457" y="4438339"/>
            <a:ext cx="904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/>
              <a:t>Add top-k</a:t>
            </a:r>
            <a:endParaRPr kumimoji="1" lang="zh-CN" altLang="en-US" sz="1000" b="1" dirty="0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5CC95944-ECE8-D04E-A856-DBC253D8E3BC}"/>
              </a:ext>
            </a:extLst>
          </p:cNvPr>
          <p:cNvSpPr txBox="1"/>
          <p:nvPr/>
        </p:nvSpPr>
        <p:spPr>
          <a:xfrm>
            <a:off x="9048206" y="570744"/>
            <a:ext cx="2805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Misclassified Pool Generation</a:t>
            </a:r>
            <a:endParaRPr kumimoji="1"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58568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6361</TotalTime>
  <Words>200</Words>
  <Application>Microsoft Macintosh PowerPoint</Application>
  <PresentationFormat>宽屏</PresentationFormat>
  <Paragraphs>133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62</cp:revision>
  <dcterms:created xsi:type="dcterms:W3CDTF">2025-03-10T06:59:59Z</dcterms:created>
  <dcterms:modified xsi:type="dcterms:W3CDTF">2025-03-20T12:33:40Z</dcterms:modified>
</cp:coreProperties>
</file>